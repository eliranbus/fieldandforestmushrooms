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Lst>
  <p:sldSz cx="19799300" cy="25184100"/>
  <p:notesSz cx="6858000" cy="9144000"/>
  <p:embeddedFontLst>
    <p:embeddedFont>
      <p:font typeface="Alike Bold" panose="020B0604020202020204" charset="0"/>
      <p:regular r:id="rId3"/>
    </p:embeddedFont>
    <p:embeddedFont>
      <p:font typeface="IBM Plex Sans Condensed Bold" panose="020B0604020202020204" charset="0"/>
      <p:regular r:id="rId4"/>
    </p:embeddedFont>
    <p:embeddedFont>
      <p:font typeface="Kompot Display" panose="020B0604020202020204" charset="0"/>
      <p:regular r:id="rId5"/>
    </p:embeddedFont>
    <p:embeddedFont>
      <p:font typeface="IBM Plex Sans Condensed" panose="020B0604020202020204" charset="0"/>
      <p:regular r:id="rId6"/>
    </p:embeddedFont>
    <p:embeddedFont>
      <p:font typeface="Calibri" panose="020F0502020204030204" pitchFamily="34" charset="0"/>
      <p:regular r:id="rId7"/>
      <p:bold r:id="rId8"/>
      <p:italic r:id="rId9"/>
      <p:boldItalic r:id="rId10"/>
    </p:embeddedFont>
    <p:embeddedFont>
      <p:font typeface="Bernoru SemiCondensed" panose="020B0604020202020204" charset="0"/>
      <p:regular r:id="rId11"/>
    </p:embeddedFont>
    <p:embeddedFont>
      <p:font typeface="ABeeZee Bold" panose="020B0604020202020204" charset="0"/>
      <p:regular r:id="rId12"/>
    </p:embeddedFont>
    <p:embeddedFont>
      <p:font typeface="Sugo Display"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60" d="100"/>
          <a:sy n="60" d="100"/>
        </p:scale>
        <p:origin x="256" y="-596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6.fntdata"/><Relationship Id="rId13" Type="http://schemas.openxmlformats.org/officeDocument/2006/relationships/font" Target="fonts/font11.fntdata"/><Relationship Id="rId3" Type="http://schemas.openxmlformats.org/officeDocument/2006/relationships/font" Target="fonts/font1.fntdata"/><Relationship Id="rId7" Type="http://schemas.openxmlformats.org/officeDocument/2006/relationships/font" Target="fonts/font5.fntdata"/><Relationship Id="rId12" Type="http://schemas.openxmlformats.org/officeDocument/2006/relationships/font" Target="fonts/font10.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font" Target="fonts/font4.fntdata"/><Relationship Id="rId11" Type="http://schemas.openxmlformats.org/officeDocument/2006/relationships/font" Target="fonts/font9.fntdata"/><Relationship Id="rId5" Type="http://schemas.openxmlformats.org/officeDocument/2006/relationships/font" Target="fonts/font3.fntdata"/><Relationship Id="rId15" Type="http://schemas.openxmlformats.org/officeDocument/2006/relationships/viewProps" Target="viewProps.xml"/><Relationship Id="rId10" Type="http://schemas.openxmlformats.org/officeDocument/2006/relationships/font" Target="fonts/font8.fntdata"/><Relationship Id="rId4" Type="http://schemas.openxmlformats.org/officeDocument/2006/relationships/font" Target="fonts/font2.fntdata"/><Relationship Id="rId9" Type="http://schemas.openxmlformats.org/officeDocument/2006/relationships/font" Target="fonts/font7.fntdata"/><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jpeg"/><Relationship Id="rId13" Type="http://schemas.openxmlformats.org/officeDocument/2006/relationships/image" Target="../media/image12.jpeg"/><Relationship Id="rId18" Type="http://schemas.openxmlformats.org/officeDocument/2006/relationships/image" Target="../media/image17.emf"/><Relationship Id="rId3" Type="http://schemas.openxmlformats.org/officeDocument/2006/relationships/image" Target="../media/image2.jpeg"/><Relationship Id="rId7" Type="http://schemas.openxmlformats.org/officeDocument/2006/relationships/image" Target="../media/image6.jpeg"/><Relationship Id="rId12" Type="http://schemas.openxmlformats.org/officeDocument/2006/relationships/image" Target="../media/image11.jpeg"/><Relationship Id="rId17" Type="http://schemas.openxmlformats.org/officeDocument/2006/relationships/image" Target="../media/image16.png"/><Relationship Id="rId2" Type="http://schemas.openxmlformats.org/officeDocument/2006/relationships/image" Target="../media/image1.jpeg"/><Relationship Id="rId16" Type="http://schemas.openxmlformats.org/officeDocument/2006/relationships/image" Target="../media/image15.png"/><Relationship Id="rId1" Type="http://schemas.openxmlformats.org/officeDocument/2006/relationships/slideLayout" Target="../slideLayouts/slideLayout7.xml"/><Relationship Id="rId6" Type="http://schemas.openxmlformats.org/officeDocument/2006/relationships/image" Target="../media/image5.jpeg"/><Relationship Id="rId11" Type="http://schemas.openxmlformats.org/officeDocument/2006/relationships/image" Target="../media/image10.jpeg"/><Relationship Id="rId5" Type="http://schemas.openxmlformats.org/officeDocument/2006/relationships/image" Target="../media/image4.jpeg"/><Relationship Id="rId15" Type="http://schemas.openxmlformats.org/officeDocument/2006/relationships/image" Target="../media/image14.png"/><Relationship Id="rId10" Type="http://schemas.openxmlformats.org/officeDocument/2006/relationships/image" Target="../media/image9.jpeg"/><Relationship Id="rId4" Type="http://schemas.openxmlformats.org/officeDocument/2006/relationships/image" Target="../media/image3.png"/><Relationship Id="rId9" Type="http://schemas.openxmlformats.org/officeDocument/2006/relationships/image" Target="../media/image8.jpe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9799808" cy="25199340"/>
          </a:xfrm>
          <a:custGeom>
            <a:avLst/>
            <a:gdLst/>
            <a:ahLst/>
            <a:cxnLst/>
            <a:rect l="l" t="t" r="r" b="b"/>
            <a:pathLst>
              <a:path w="19799808" h="25199340">
                <a:moveTo>
                  <a:pt x="0" y="0"/>
                </a:moveTo>
                <a:lnTo>
                  <a:pt x="19799808" y="0"/>
                </a:lnTo>
                <a:lnTo>
                  <a:pt x="19799808" y="25199340"/>
                </a:lnTo>
                <a:lnTo>
                  <a:pt x="0" y="25199340"/>
                </a:lnTo>
                <a:lnTo>
                  <a:pt x="0" y="0"/>
                </a:lnTo>
                <a:close/>
              </a:path>
            </a:pathLst>
          </a:custGeom>
          <a:blipFill>
            <a:blip r:embed="rId2"/>
            <a:stretch>
              <a:fillRect/>
            </a:stretch>
          </a:blipFill>
          <a:ln cap="sq">
            <a:noFill/>
            <a:prstDash val="solid"/>
            <a:miter/>
          </a:ln>
        </p:spPr>
      </p:sp>
      <p:sp>
        <p:nvSpPr>
          <p:cNvPr id="3" name="Freeform 3"/>
          <p:cNvSpPr/>
          <p:nvPr/>
        </p:nvSpPr>
        <p:spPr>
          <a:xfrm>
            <a:off x="0" y="5984748"/>
            <a:ext cx="19799808" cy="19214592"/>
          </a:xfrm>
          <a:custGeom>
            <a:avLst/>
            <a:gdLst/>
            <a:ahLst/>
            <a:cxnLst/>
            <a:rect l="l" t="t" r="r" b="b"/>
            <a:pathLst>
              <a:path w="19799808" h="19214592">
                <a:moveTo>
                  <a:pt x="0" y="0"/>
                </a:moveTo>
                <a:lnTo>
                  <a:pt x="19799808" y="0"/>
                </a:lnTo>
                <a:lnTo>
                  <a:pt x="19799808" y="19214592"/>
                </a:lnTo>
                <a:lnTo>
                  <a:pt x="0" y="19214592"/>
                </a:lnTo>
                <a:lnTo>
                  <a:pt x="0" y="0"/>
                </a:lnTo>
                <a:close/>
              </a:path>
            </a:pathLst>
          </a:custGeom>
          <a:blipFill>
            <a:blip r:embed="rId3"/>
            <a:stretch>
              <a:fillRect/>
            </a:stretch>
          </a:blipFill>
        </p:spPr>
      </p:sp>
      <p:sp>
        <p:nvSpPr>
          <p:cNvPr id="4" name="Freeform 4"/>
          <p:cNvSpPr/>
          <p:nvPr/>
        </p:nvSpPr>
        <p:spPr>
          <a:xfrm>
            <a:off x="-63503" y="5339077"/>
            <a:ext cx="19926805" cy="19923757"/>
          </a:xfrm>
          <a:custGeom>
            <a:avLst/>
            <a:gdLst/>
            <a:ahLst/>
            <a:cxnLst/>
            <a:rect l="l" t="t" r="r" b="b"/>
            <a:pathLst>
              <a:path w="19926805" h="19923757">
                <a:moveTo>
                  <a:pt x="0" y="0"/>
                </a:moveTo>
                <a:lnTo>
                  <a:pt x="19926805" y="0"/>
                </a:lnTo>
                <a:lnTo>
                  <a:pt x="19926805" y="19923757"/>
                </a:lnTo>
                <a:lnTo>
                  <a:pt x="0" y="19923757"/>
                </a:lnTo>
                <a:lnTo>
                  <a:pt x="0" y="0"/>
                </a:lnTo>
                <a:close/>
              </a:path>
            </a:pathLst>
          </a:custGeom>
          <a:blipFill>
            <a:blip r:embed="rId4"/>
            <a:stretch>
              <a:fillRect/>
            </a:stretch>
          </a:blipFill>
        </p:spPr>
      </p:sp>
      <p:sp>
        <p:nvSpPr>
          <p:cNvPr id="5" name="Freeform 5"/>
          <p:cNvSpPr/>
          <p:nvPr/>
        </p:nvSpPr>
        <p:spPr>
          <a:xfrm>
            <a:off x="13314928" y="22922421"/>
            <a:ext cx="3695705" cy="2020118"/>
          </a:xfrm>
          <a:custGeom>
            <a:avLst/>
            <a:gdLst/>
            <a:ahLst/>
            <a:cxnLst/>
            <a:rect l="l" t="t" r="r" b="b"/>
            <a:pathLst>
              <a:path w="4420480" h="2396127">
                <a:moveTo>
                  <a:pt x="0" y="0"/>
                </a:moveTo>
                <a:lnTo>
                  <a:pt x="4420481" y="0"/>
                </a:lnTo>
                <a:lnTo>
                  <a:pt x="4420481" y="2396127"/>
                </a:lnTo>
                <a:lnTo>
                  <a:pt x="0" y="2396127"/>
                </a:lnTo>
                <a:lnTo>
                  <a:pt x="0" y="0"/>
                </a:lnTo>
                <a:close/>
              </a:path>
            </a:pathLst>
          </a:custGeom>
          <a:blipFill>
            <a:blip r:embed="rId5"/>
            <a:stretch>
              <a:fillRect t="-6981" r="-1936" b="-6981"/>
            </a:stretch>
          </a:blipFill>
        </p:spPr>
      </p:sp>
      <p:sp>
        <p:nvSpPr>
          <p:cNvPr id="6" name="Freeform 6"/>
          <p:cNvSpPr/>
          <p:nvPr/>
        </p:nvSpPr>
        <p:spPr>
          <a:xfrm rot="-5400000">
            <a:off x="5467547" y="19446151"/>
            <a:ext cx="2438400" cy="2750998"/>
          </a:xfrm>
          <a:custGeom>
            <a:avLst/>
            <a:gdLst/>
            <a:ahLst/>
            <a:cxnLst/>
            <a:rect l="l" t="t" r="r" b="b"/>
            <a:pathLst>
              <a:path w="2653155" h="3667702">
                <a:moveTo>
                  <a:pt x="0" y="0"/>
                </a:moveTo>
                <a:lnTo>
                  <a:pt x="2653155" y="0"/>
                </a:lnTo>
                <a:lnTo>
                  <a:pt x="2653155" y="3667703"/>
                </a:lnTo>
                <a:lnTo>
                  <a:pt x="0" y="3667703"/>
                </a:lnTo>
                <a:lnTo>
                  <a:pt x="0" y="0"/>
                </a:lnTo>
                <a:close/>
              </a:path>
            </a:pathLst>
          </a:custGeom>
          <a:blipFill>
            <a:blip r:embed="rId6"/>
            <a:stretch>
              <a:fillRect t="-1076" b="-1076"/>
            </a:stretch>
          </a:blipFill>
        </p:spPr>
      </p:sp>
      <p:sp>
        <p:nvSpPr>
          <p:cNvPr id="7" name="Freeform 7"/>
          <p:cNvSpPr/>
          <p:nvPr/>
        </p:nvSpPr>
        <p:spPr>
          <a:xfrm>
            <a:off x="15233649" y="6798786"/>
            <a:ext cx="2576351" cy="2473255"/>
          </a:xfrm>
          <a:custGeom>
            <a:avLst/>
            <a:gdLst/>
            <a:ahLst/>
            <a:cxnLst/>
            <a:rect l="l" t="t" r="r" b="b"/>
            <a:pathLst>
              <a:path w="3531386" h="3509450">
                <a:moveTo>
                  <a:pt x="0" y="0"/>
                </a:moveTo>
                <a:lnTo>
                  <a:pt x="3531386" y="0"/>
                </a:lnTo>
                <a:lnTo>
                  <a:pt x="3531386" y="3509450"/>
                </a:lnTo>
                <a:lnTo>
                  <a:pt x="0" y="3509450"/>
                </a:lnTo>
                <a:lnTo>
                  <a:pt x="0" y="0"/>
                </a:lnTo>
                <a:close/>
              </a:path>
            </a:pathLst>
          </a:custGeom>
          <a:blipFill>
            <a:blip r:embed="rId7"/>
            <a:stretch>
              <a:fillRect r="-13089"/>
            </a:stretch>
          </a:blipFill>
        </p:spPr>
      </p:sp>
      <p:sp>
        <p:nvSpPr>
          <p:cNvPr id="8" name="Freeform 8"/>
          <p:cNvSpPr/>
          <p:nvPr/>
        </p:nvSpPr>
        <p:spPr>
          <a:xfrm>
            <a:off x="11496461" y="6800850"/>
            <a:ext cx="2594189" cy="2421155"/>
          </a:xfrm>
          <a:custGeom>
            <a:avLst/>
            <a:gdLst/>
            <a:ahLst/>
            <a:cxnLst/>
            <a:rect l="l" t="t" r="r" b="b"/>
            <a:pathLst>
              <a:path w="3468201" h="3509450">
                <a:moveTo>
                  <a:pt x="0" y="0"/>
                </a:moveTo>
                <a:lnTo>
                  <a:pt x="3468200" y="0"/>
                </a:lnTo>
                <a:lnTo>
                  <a:pt x="3468200" y="3509450"/>
                </a:lnTo>
                <a:lnTo>
                  <a:pt x="0" y="3509450"/>
                </a:lnTo>
                <a:lnTo>
                  <a:pt x="0" y="0"/>
                </a:lnTo>
                <a:close/>
              </a:path>
            </a:pathLst>
          </a:custGeom>
          <a:blipFill>
            <a:blip r:embed="rId8"/>
            <a:stretch>
              <a:fillRect/>
            </a:stretch>
          </a:blipFill>
        </p:spPr>
      </p:sp>
      <p:sp>
        <p:nvSpPr>
          <p:cNvPr id="9" name="Freeform 9"/>
          <p:cNvSpPr/>
          <p:nvPr/>
        </p:nvSpPr>
        <p:spPr>
          <a:xfrm>
            <a:off x="1441450" y="16325850"/>
            <a:ext cx="2808841" cy="2436198"/>
          </a:xfrm>
          <a:custGeom>
            <a:avLst/>
            <a:gdLst/>
            <a:ahLst/>
            <a:cxnLst/>
            <a:rect l="l" t="t" r="r" b="b"/>
            <a:pathLst>
              <a:path w="3593202" h="2650776">
                <a:moveTo>
                  <a:pt x="0" y="0"/>
                </a:moveTo>
                <a:lnTo>
                  <a:pt x="3593202" y="0"/>
                </a:lnTo>
                <a:lnTo>
                  <a:pt x="3593202" y="2650776"/>
                </a:lnTo>
                <a:lnTo>
                  <a:pt x="0" y="2650776"/>
                </a:lnTo>
                <a:lnTo>
                  <a:pt x="0" y="0"/>
                </a:lnTo>
                <a:close/>
              </a:path>
            </a:pathLst>
          </a:custGeom>
          <a:blipFill>
            <a:blip r:embed="rId9"/>
            <a:stretch>
              <a:fillRect/>
            </a:stretch>
          </a:blipFill>
        </p:spPr>
      </p:sp>
      <p:sp>
        <p:nvSpPr>
          <p:cNvPr id="10" name="Freeform 10"/>
          <p:cNvSpPr/>
          <p:nvPr/>
        </p:nvSpPr>
        <p:spPr>
          <a:xfrm flipH="1">
            <a:off x="16859306" y="19603427"/>
            <a:ext cx="2184344" cy="2437423"/>
          </a:xfrm>
          <a:custGeom>
            <a:avLst/>
            <a:gdLst/>
            <a:ahLst/>
            <a:cxnLst/>
            <a:rect l="l" t="t" r="r" b="b"/>
            <a:pathLst>
              <a:path w="2184344" h="2437423">
                <a:moveTo>
                  <a:pt x="2184344" y="0"/>
                </a:moveTo>
                <a:lnTo>
                  <a:pt x="0" y="0"/>
                </a:lnTo>
                <a:lnTo>
                  <a:pt x="0" y="2437423"/>
                </a:lnTo>
                <a:lnTo>
                  <a:pt x="2184344" y="2437423"/>
                </a:lnTo>
                <a:lnTo>
                  <a:pt x="2184344" y="0"/>
                </a:lnTo>
                <a:close/>
              </a:path>
            </a:pathLst>
          </a:custGeom>
          <a:blipFill>
            <a:blip r:embed="rId10"/>
            <a:stretch>
              <a:fillRect/>
            </a:stretch>
          </a:blipFill>
        </p:spPr>
      </p:sp>
      <p:sp>
        <p:nvSpPr>
          <p:cNvPr id="11" name="Freeform 11"/>
          <p:cNvSpPr/>
          <p:nvPr/>
        </p:nvSpPr>
        <p:spPr>
          <a:xfrm>
            <a:off x="13176250" y="19603427"/>
            <a:ext cx="3005273" cy="2437423"/>
          </a:xfrm>
          <a:custGeom>
            <a:avLst/>
            <a:gdLst/>
            <a:ahLst/>
            <a:cxnLst/>
            <a:rect l="l" t="t" r="r" b="b"/>
            <a:pathLst>
              <a:path w="3005273" h="2437423">
                <a:moveTo>
                  <a:pt x="0" y="0"/>
                </a:moveTo>
                <a:lnTo>
                  <a:pt x="3005273" y="0"/>
                </a:lnTo>
                <a:lnTo>
                  <a:pt x="3005273" y="2437423"/>
                </a:lnTo>
                <a:lnTo>
                  <a:pt x="0" y="2437423"/>
                </a:lnTo>
                <a:lnTo>
                  <a:pt x="0" y="0"/>
                </a:lnTo>
                <a:close/>
              </a:path>
            </a:pathLst>
          </a:custGeom>
          <a:blipFill>
            <a:blip r:embed="rId11"/>
            <a:stretch>
              <a:fillRect/>
            </a:stretch>
          </a:blipFill>
        </p:spPr>
      </p:sp>
      <p:sp>
        <p:nvSpPr>
          <p:cNvPr id="12" name="Freeform 12"/>
          <p:cNvSpPr/>
          <p:nvPr/>
        </p:nvSpPr>
        <p:spPr>
          <a:xfrm>
            <a:off x="10052050" y="19603427"/>
            <a:ext cx="2418995" cy="2437423"/>
          </a:xfrm>
          <a:custGeom>
            <a:avLst/>
            <a:gdLst/>
            <a:ahLst/>
            <a:cxnLst/>
            <a:rect l="l" t="t" r="r" b="b"/>
            <a:pathLst>
              <a:path w="2418995" h="2437423">
                <a:moveTo>
                  <a:pt x="0" y="0"/>
                </a:moveTo>
                <a:lnTo>
                  <a:pt x="2418995" y="0"/>
                </a:lnTo>
                <a:lnTo>
                  <a:pt x="2418995" y="2437423"/>
                </a:lnTo>
                <a:lnTo>
                  <a:pt x="0" y="2437423"/>
                </a:lnTo>
                <a:lnTo>
                  <a:pt x="0" y="0"/>
                </a:lnTo>
                <a:close/>
              </a:path>
            </a:pathLst>
          </a:custGeom>
          <a:blipFill>
            <a:blip r:embed="rId12"/>
            <a:stretch>
              <a:fillRect r="-4570"/>
            </a:stretch>
          </a:blipFill>
        </p:spPr>
      </p:sp>
      <p:sp>
        <p:nvSpPr>
          <p:cNvPr id="13" name="Freeform 13"/>
          <p:cNvSpPr/>
          <p:nvPr/>
        </p:nvSpPr>
        <p:spPr>
          <a:xfrm>
            <a:off x="1441451" y="19602450"/>
            <a:ext cx="2808840" cy="2438400"/>
          </a:xfrm>
          <a:custGeom>
            <a:avLst/>
            <a:gdLst/>
            <a:ahLst/>
            <a:cxnLst/>
            <a:rect l="l" t="t" r="r" b="b"/>
            <a:pathLst>
              <a:path w="3617525" h="2668720">
                <a:moveTo>
                  <a:pt x="0" y="0"/>
                </a:moveTo>
                <a:lnTo>
                  <a:pt x="3617525" y="0"/>
                </a:lnTo>
                <a:lnTo>
                  <a:pt x="3617525" y="2668720"/>
                </a:lnTo>
                <a:lnTo>
                  <a:pt x="0" y="2668720"/>
                </a:lnTo>
                <a:lnTo>
                  <a:pt x="0" y="0"/>
                </a:lnTo>
                <a:close/>
              </a:path>
            </a:pathLst>
          </a:custGeom>
          <a:blipFill>
            <a:blip r:embed="rId13"/>
            <a:stretch>
              <a:fillRect l="-8401" t="-365" r="-3307" b="-365"/>
            </a:stretch>
          </a:blipFill>
        </p:spPr>
      </p:sp>
      <p:sp>
        <p:nvSpPr>
          <p:cNvPr id="14" name="Freeform 14"/>
          <p:cNvSpPr/>
          <p:nvPr/>
        </p:nvSpPr>
        <p:spPr>
          <a:xfrm>
            <a:off x="17161911" y="22714856"/>
            <a:ext cx="2012058" cy="2331025"/>
          </a:xfrm>
          <a:custGeom>
            <a:avLst/>
            <a:gdLst/>
            <a:ahLst/>
            <a:cxnLst/>
            <a:rect l="l" t="t" r="r" b="b"/>
            <a:pathLst>
              <a:path w="2154652" h="2551279">
                <a:moveTo>
                  <a:pt x="0" y="0"/>
                </a:moveTo>
                <a:lnTo>
                  <a:pt x="2154652" y="0"/>
                </a:lnTo>
                <a:lnTo>
                  <a:pt x="2154652" y="2551279"/>
                </a:lnTo>
                <a:lnTo>
                  <a:pt x="0" y="2551279"/>
                </a:lnTo>
                <a:lnTo>
                  <a:pt x="0" y="0"/>
                </a:lnTo>
                <a:close/>
              </a:path>
            </a:pathLst>
          </a:custGeom>
          <a:blipFill>
            <a:blip r:embed="rId14"/>
            <a:stretch>
              <a:fillRect/>
            </a:stretch>
          </a:blipFill>
        </p:spPr>
      </p:sp>
      <p:sp>
        <p:nvSpPr>
          <p:cNvPr id="15" name="Freeform 15"/>
          <p:cNvSpPr/>
          <p:nvPr/>
        </p:nvSpPr>
        <p:spPr>
          <a:xfrm>
            <a:off x="12632738" y="51472"/>
            <a:ext cx="7147271" cy="5628476"/>
          </a:xfrm>
          <a:custGeom>
            <a:avLst/>
            <a:gdLst/>
            <a:ahLst/>
            <a:cxnLst/>
            <a:rect l="l" t="t" r="r" b="b"/>
            <a:pathLst>
              <a:path w="7147271" h="5628476">
                <a:moveTo>
                  <a:pt x="0" y="0"/>
                </a:moveTo>
                <a:lnTo>
                  <a:pt x="7147271" y="0"/>
                </a:lnTo>
                <a:lnTo>
                  <a:pt x="7147271" y="5628476"/>
                </a:lnTo>
                <a:lnTo>
                  <a:pt x="0" y="5628476"/>
                </a:lnTo>
                <a:lnTo>
                  <a:pt x="0" y="0"/>
                </a:lnTo>
                <a:close/>
              </a:path>
            </a:pathLst>
          </a:custGeom>
          <a:blipFill>
            <a:blip r:embed="rId15"/>
            <a:stretch>
              <a:fillRect/>
            </a:stretch>
          </a:blipFill>
        </p:spPr>
      </p:sp>
      <p:sp>
        <p:nvSpPr>
          <p:cNvPr id="16" name="Freeform 16"/>
          <p:cNvSpPr/>
          <p:nvPr/>
        </p:nvSpPr>
        <p:spPr>
          <a:xfrm>
            <a:off x="-605559" y="6009653"/>
            <a:ext cx="10810010" cy="10233749"/>
          </a:xfrm>
          <a:custGeom>
            <a:avLst/>
            <a:gdLst/>
            <a:ahLst/>
            <a:cxnLst/>
            <a:rect l="l" t="t" r="r" b="b"/>
            <a:pathLst>
              <a:path w="11522037" h="8062307">
                <a:moveTo>
                  <a:pt x="0" y="0"/>
                </a:moveTo>
                <a:lnTo>
                  <a:pt x="11522036" y="0"/>
                </a:lnTo>
                <a:lnTo>
                  <a:pt x="11522036" y="8062307"/>
                </a:lnTo>
                <a:lnTo>
                  <a:pt x="0" y="8062307"/>
                </a:lnTo>
                <a:lnTo>
                  <a:pt x="0" y="0"/>
                </a:lnTo>
                <a:close/>
              </a:path>
            </a:pathLst>
          </a:custGeom>
          <a:blipFill>
            <a:blip r:embed="rId16"/>
            <a:stretch>
              <a:fillRect l="-3039" r="-4198"/>
            </a:stretch>
          </a:blipFill>
        </p:spPr>
      </p:sp>
      <p:sp>
        <p:nvSpPr>
          <p:cNvPr id="17" name="TextBox 17"/>
          <p:cNvSpPr txBox="1"/>
          <p:nvPr/>
        </p:nvSpPr>
        <p:spPr>
          <a:xfrm>
            <a:off x="12306900" y="18578093"/>
            <a:ext cx="5011692" cy="490957"/>
          </a:xfrm>
          <a:prstGeom prst="rect">
            <a:avLst/>
          </a:prstGeom>
        </p:spPr>
        <p:txBody>
          <a:bodyPr lIns="0" tIns="0" rIns="0" bIns="0" rtlCol="0" anchor="t">
            <a:spAutoFit/>
          </a:bodyPr>
          <a:lstStyle/>
          <a:p>
            <a:pPr algn="l">
              <a:lnSpc>
                <a:spcPts val="3914"/>
              </a:lnSpc>
            </a:pPr>
            <a:r>
              <a:rPr lang="en-US" sz="2795" spc="5" dirty="0">
                <a:solidFill>
                  <a:srgbClr val="652825"/>
                </a:solidFill>
                <a:latin typeface="ABeeZee Bold"/>
                <a:ea typeface="ABeeZee Bold"/>
                <a:cs typeface="ABeeZee Bold"/>
                <a:sym typeface="ABeeZee Bold"/>
              </a:rPr>
              <a:t>First ever described in Israel</a:t>
            </a:r>
          </a:p>
        </p:txBody>
      </p:sp>
      <p:sp>
        <p:nvSpPr>
          <p:cNvPr id="18" name="Freeform 18"/>
          <p:cNvSpPr/>
          <p:nvPr/>
        </p:nvSpPr>
        <p:spPr>
          <a:xfrm>
            <a:off x="9064124" y="9375655"/>
            <a:ext cx="11212416" cy="9245611"/>
          </a:xfrm>
          <a:custGeom>
            <a:avLst/>
            <a:gdLst/>
            <a:ahLst/>
            <a:cxnLst/>
            <a:rect l="l" t="t" r="r" b="b"/>
            <a:pathLst>
              <a:path w="11371651" h="7420003">
                <a:moveTo>
                  <a:pt x="0" y="0"/>
                </a:moveTo>
                <a:lnTo>
                  <a:pt x="11371651" y="0"/>
                </a:lnTo>
                <a:lnTo>
                  <a:pt x="11371651" y="7420003"/>
                </a:lnTo>
                <a:lnTo>
                  <a:pt x="0" y="7420003"/>
                </a:lnTo>
                <a:lnTo>
                  <a:pt x="0" y="0"/>
                </a:lnTo>
                <a:close/>
              </a:path>
            </a:pathLst>
          </a:custGeom>
          <a:blipFill>
            <a:blip r:embed="rId16"/>
            <a:stretch>
              <a:fillRect/>
            </a:stretch>
          </a:blipFill>
          <a:ln cap="sq">
            <a:noFill/>
            <a:prstDash val="solid"/>
            <a:miter/>
          </a:ln>
        </p:spPr>
      </p:sp>
      <p:sp>
        <p:nvSpPr>
          <p:cNvPr id="22" name="Freeform 22"/>
          <p:cNvSpPr/>
          <p:nvPr/>
        </p:nvSpPr>
        <p:spPr>
          <a:xfrm>
            <a:off x="9193104" y="5524267"/>
            <a:ext cx="1413590" cy="1413590"/>
          </a:xfrm>
          <a:custGeom>
            <a:avLst/>
            <a:gdLst/>
            <a:ahLst/>
            <a:cxnLst/>
            <a:rect l="l" t="t" r="r" b="b"/>
            <a:pathLst>
              <a:path w="1413590" h="1413590">
                <a:moveTo>
                  <a:pt x="0" y="0"/>
                </a:moveTo>
                <a:lnTo>
                  <a:pt x="1413590" y="0"/>
                </a:lnTo>
                <a:lnTo>
                  <a:pt x="1413590" y="1413590"/>
                </a:lnTo>
                <a:lnTo>
                  <a:pt x="0" y="1413590"/>
                </a:lnTo>
                <a:lnTo>
                  <a:pt x="0" y="0"/>
                </a:lnTo>
                <a:close/>
              </a:path>
            </a:pathLst>
          </a:custGeom>
          <a:blipFill>
            <a:blip r:embed="rId17"/>
            <a:stretch>
              <a:fillRect/>
            </a:stretch>
          </a:blipFill>
        </p:spPr>
      </p:sp>
      <p:sp>
        <p:nvSpPr>
          <p:cNvPr id="23" name="TextBox 23"/>
          <p:cNvSpPr txBox="1"/>
          <p:nvPr/>
        </p:nvSpPr>
        <p:spPr>
          <a:xfrm>
            <a:off x="736668" y="7455000"/>
            <a:ext cx="8426884" cy="4236416"/>
          </a:xfrm>
          <a:prstGeom prst="rect">
            <a:avLst/>
          </a:prstGeom>
        </p:spPr>
        <p:txBody>
          <a:bodyPr lIns="0" tIns="0" rIns="0" bIns="0" rtlCol="0" anchor="t">
            <a:spAutoFit/>
          </a:bodyPr>
          <a:lstStyle/>
          <a:p>
            <a:pPr algn="ctr">
              <a:lnSpc>
                <a:spcPct val="150000"/>
              </a:lnSpc>
            </a:pPr>
            <a:r>
              <a:rPr lang="en-US" sz="2400" spc="4" dirty="0">
                <a:solidFill>
                  <a:srgbClr val="000000"/>
                </a:solidFill>
                <a:latin typeface="Alike Bold"/>
                <a:ea typeface="Alike Bold"/>
                <a:cs typeface="Alike Bold"/>
                <a:sym typeface="Alike Bold"/>
              </a:rPr>
              <a:t>The fungi herbarium is a comprehensive collection consisting mainly of mushrooms from Israel and the East-Mediterranean region. It is a unique collection that was founded by mycologist Nissan Binyamini in the 1960s, and continuous until 1992. His collection comprises approximately 6000 specimens among which 260 genera. </a:t>
            </a:r>
            <a:r>
              <a:rPr lang="en-US" sz="2400" spc="4" dirty="0" smtClean="0">
                <a:solidFill>
                  <a:srgbClr val="000000"/>
                </a:solidFill>
                <a:latin typeface="Alike Bold"/>
                <a:ea typeface="Alike Bold"/>
                <a:cs typeface="Alike Bold"/>
                <a:sym typeface="Alike Bold"/>
              </a:rPr>
              <a:t>It </a:t>
            </a:r>
            <a:r>
              <a:rPr lang="en-US" sz="2400" spc="4" dirty="0">
                <a:solidFill>
                  <a:srgbClr val="000000"/>
                </a:solidFill>
                <a:latin typeface="Alike Bold"/>
                <a:ea typeface="Alike Bold"/>
                <a:cs typeface="Alike Bold"/>
                <a:sym typeface="Alike Bold"/>
              </a:rPr>
              <a:t>serves as the paramount referential work on fungi of Israel.</a:t>
            </a:r>
          </a:p>
          <a:p>
            <a:pPr algn="l">
              <a:lnSpc>
                <a:spcPts val="2918"/>
              </a:lnSpc>
            </a:pPr>
            <a:endParaRPr lang="en-US" sz="2400" spc="4" dirty="0">
              <a:solidFill>
                <a:srgbClr val="000000"/>
              </a:solidFill>
              <a:latin typeface="Alike Bold"/>
              <a:ea typeface="Alike Bold"/>
              <a:cs typeface="Alike Bold"/>
              <a:sym typeface="Alike Bold"/>
            </a:endParaRPr>
          </a:p>
        </p:txBody>
      </p:sp>
      <p:sp>
        <p:nvSpPr>
          <p:cNvPr id="24" name="TextBox 24"/>
          <p:cNvSpPr txBox="1"/>
          <p:nvPr/>
        </p:nvSpPr>
        <p:spPr>
          <a:xfrm>
            <a:off x="836097" y="11659360"/>
            <a:ext cx="8228026" cy="3682418"/>
          </a:xfrm>
          <a:prstGeom prst="rect">
            <a:avLst/>
          </a:prstGeom>
        </p:spPr>
        <p:txBody>
          <a:bodyPr lIns="0" tIns="0" rIns="0" bIns="0" rtlCol="0" anchor="t">
            <a:spAutoFit/>
          </a:bodyPr>
          <a:lstStyle/>
          <a:p>
            <a:pPr marL="0" lvl="0" indent="0" algn="ctr">
              <a:lnSpc>
                <a:spcPct val="150000"/>
              </a:lnSpc>
              <a:spcBef>
                <a:spcPct val="0"/>
              </a:spcBef>
            </a:pPr>
            <a:r>
              <a:rPr lang="en-US" sz="2400" u="none" strike="noStrike" spc="4" dirty="0">
                <a:solidFill>
                  <a:srgbClr val="000000"/>
                </a:solidFill>
                <a:latin typeface="Alike Bold"/>
                <a:ea typeface="Alike Bold"/>
                <a:cs typeface="Alike Bold"/>
                <a:sym typeface="Alike Bold"/>
              </a:rPr>
              <a:t>From 2016 to 2025 Bruria Gal added 1500 new specimens among which 150 genera of gilled and non-gilled </a:t>
            </a:r>
            <a:r>
              <a:rPr lang="en-US" sz="2400" u="none" strike="noStrike" spc="4" dirty="0" smtClean="0">
                <a:solidFill>
                  <a:srgbClr val="000000"/>
                </a:solidFill>
                <a:latin typeface="Alike Bold"/>
                <a:ea typeface="Alike Bold"/>
                <a:cs typeface="Alike Bold"/>
                <a:sym typeface="Alike Bold"/>
              </a:rPr>
              <a:t>mushrooms. These </a:t>
            </a:r>
            <a:r>
              <a:rPr lang="en-US" sz="2400" u="none" strike="noStrike" spc="4" dirty="0">
                <a:solidFill>
                  <a:srgbClr val="000000"/>
                </a:solidFill>
                <a:latin typeface="Alike Bold"/>
                <a:ea typeface="Alike Bold"/>
                <a:cs typeface="Alike Bold"/>
                <a:sym typeface="Alike Bold"/>
              </a:rPr>
              <a:t>were collected mainly in the Judean hills around Jerusalem, the Carmel mountain near Haifa, as well as the Galil and Golan regions. In rainy seasons, unique species were  collected in the Negev desert. </a:t>
            </a:r>
          </a:p>
          <a:p>
            <a:pPr marL="0" lvl="0" indent="0" algn="l">
              <a:lnSpc>
                <a:spcPts val="2918"/>
              </a:lnSpc>
              <a:spcBef>
                <a:spcPct val="0"/>
              </a:spcBef>
            </a:pPr>
            <a:endParaRPr lang="en-US" sz="2400" u="none" strike="noStrike" spc="4" dirty="0">
              <a:solidFill>
                <a:srgbClr val="000000"/>
              </a:solidFill>
              <a:latin typeface="Alike Bold"/>
              <a:ea typeface="Alike Bold"/>
              <a:cs typeface="Alike Bold"/>
              <a:sym typeface="Alike Bold"/>
            </a:endParaRPr>
          </a:p>
        </p:txBody>
      </p:sp>
      <p:sp>
        <p:nvSpPr>
          <p:cNvPr id="25" name="TextBox 25"/>
          <p:cNvSpPr txBox="1"/>
          <p:nvPr/>
        </p:nvSpPr>
        <p:spPr>
          <a:xfrm>
            <a:off x="45863" y="955805"/>
            <a:ext cx="16395755" cy="1884350"/>
          </a:xfrm>
          <a:prstGeom prst="rect">
            <a:avLst/>
          </a:prstGeom>
        </p:spPr>
        <p:txBody>
          <a:bodyPr wrap="square" lIns="0" tIns="0" rIns="0" bIns="0" rtlCol="0" anchor="t">
            <a:spAutoFit/>
          </a:bodyPr>
          <a:lstStyle/>
          <a:p>
            <a:pPr marL="0" lvl="0" indent="0" algn="l">
              <a:lnSpc>
                <a:spcPts val="14172"/>
              </a:lnSpc>
              <a:spcBef>
                <a:spcPct val="0"/>
              </a:spcBef>
            </a:pPr>
            <a:r>
              <a:rPr lang="en-US" sz="13800" spc="27" dirty="0">
                <a:solidFill>
                  <a:srgbClr val="652825"/>
                </a:solidFill>
                <a:latin typeface="Kompot Display"/>
                <a:ea typeface="Kompot Display"/>
                <a:cs typeface="Kompot Display"/>
                <a:sym typeface="Kompot Display"/>
              </a:rPr>
              <a:t> </a:t>
            </a:r>
            <a:r>
              <a:rPr lang="en-US" sz="13800" spc="27" dirty="0" smtClean="0">
                <a:solidFill>
                  <a:srgbClr val="652825"/>
                </a:solidFill>
                <a:latin typeface="Kompot Display"/>
                <a:ea typeface="Kompot Display"/>
                <a:cs typeface="Kompot Display"/>
                <a:sym typeface="Kompot Display"/>
              </a:rPr>
              <a:t>T</a:t>
            </a:r>
            <a:r>
              <a:rPr lang="en-US" sz="13800" u="none" strike="noStrike" spc="27" dirty="0" smtClean="0">
                <a:solidFill>
                  <a:srgbClr val="652825"/>
                </a:solidFill>
                <a:latin typeface="Kompot Display"/>
                <a:ea typeface="Kompot Display"/>
                <a:cs typeface="Kompot Display"/>
                <a:sym typeface="Kompot Display"/>
              </a:rPr>
              <a:t>he </a:t>
            </a:r>
            <a:r>
              <a:rPr lang="en-US" sz="13800" u="none" strike="noStrike" spc="27" dirty="0">
                <a:solidFill>
                  <a:srgbClr val="652825"/>
                </a:solidFill>
                <a:latin typeface="Kompot Display"/>
                <a:ea typeface="Kompot Display"/>
                <a:cs typeface="Kompot Display"/>
                <a:sym typeface="Kompot Display"/>
              </a:rPr>
              <a:t>fungi collection</a:t>
            </a:r>
          </a:p>
        </p:txBody>
      </p:sp>
      <p:sp>
        <p:nvSpPr>
          <p:cNvPr id="26" name="TextBox 26"/>
          <p:cNvSpPr txBox="1"/>
          <p:nvPr/>
        </p:nvSpPr>
        <p:spPr>
          <a:xfrm>
            <a:off x="2069287" y="2582828"/>
            <a:ext cx="192138" cy="1327785"/>
          </a:xfrm>
          <a:prstGeom prst="rect">
            <a:avLst/>
          </a:prstGeom>
        </p:spPr>
        <p:txBody>
          <a:bodyPr lIns="0" tIns="0" rIns="0" bIns="0" rtlCol="0" anchor="t">
            <a:spAutoFit/>
          </a:bodyPr>
          <a:lstStyle/>
          <a:p>
            <a:pPr algn="l">
              <a:lnSpc>
                <a:spcPts val="11484"/>
              </a:lnSpc>
            </a:pPr>
            <a:r>
              <a:rPr lang="en-US" sz="7200" b="1" spc="14">
                <a:solidFill>
                  <a:srgbClr val="652825"/>
                </a:solidFill>
                <a:latin typeface="IBM Plex Sans Condensed Bold"/>
                <a:ea typeface="IBM Plex Sans Condensed Bold"/>
                <a:cs typeface="IBM Plex Sans Condensed Bold"/>
                <a:sym typeface="IBM Plex Sans Condensed Bold"/>
              </a:rPr>
              <a:t> </a:t>
            </a:r>
          </a:p>
        </p:txBody>
      </p:sp>
      <p:sp>
        <p:nvSpPr>
          <p:cNvPr id="27" name="TextBox 27"/>
          <p:cNvSpPr txBox="1"/>
          <p:nvPr/>
        </p:nvSpPr>
        <p:spPr>
          <a:xfrm>
            <a:off x="566928" y="2697128"/>
            <a:ext cx="17604848" cy="1222375"/>
          </a:xfrm>
          <a:prstGeom prst="rect">
            <a:avLst/>
          </a:prstGeom>
        </p:spPr>
        <p:txBody>
          <a:bodyPr lIns="0" tIns="0" rIns="0" bIns="0" rtlCol="0" anchor="t">
            <a:spAutoFit/>
          </a:bodyPr>
          <a:lstStyle/>
          <a:p>
            <a:pPr algn="l">
              <a:lnSpc>
                <a:spcPts val="9800"/>
              </a:lnSpc>
            </a:pPr>
            <a:r>
              <a:rPr lang="en-US" sz="7000" spc="14" dirty="0">
                <a:solidFill>
                  <a:srgbClr val="652825"/>
                </a:solidFill>
                <a:latin typeface="Sugo Display"/>
                <a:ea typeface="Sugo Display"/>
                <a:cs typeface="Sugo Display"/>
                <a:sym typeface="Sugo Display"/>
              </a:rPr>
              <a:t>The Steinhardt Museum of Natural History, </a:t>
            </a:r>
          </a:p>
        </p:txBody>
      </p:sp>
      <p:sp>
        <p:nvSpPr>
          <p:cNvPr id="28" name="TextBox 28"/>
          <p:cNvSpPr txBox="1"/>
          <p:nvPr/>
        </p:nvSpPr>
        <p:spPr>
          <a:xfrm>
            <a:off x="566928" y="3722551"/>
            <a:ext cx="7495318" cy="939165"/>
          </a:xfrm>
          <a:prstGeom prst="rect">
            <a:avLst/>
          </a:prstGeom>
        </p:spPr>
        <p:txBody>
          <a:bodyPr lIns="0" tIns="0" rIns="0" bIns="0" rtlCol="0" anchor="t">
            <a:spAutoFit/>
          </a:bodyPr>
          <a:lstStyle/>
          <a:p>
            <a:pPr algn="l">
              <a:lnSpc>
                <a:spcPts val="7559"/>
              </a:lnSpc>
            </a:pPr>
            <a:r>
              <a:rPr lang="en-US" sz="5400" spc="10" dirty="0">
                <a:solidFill>
                  <a:srgbClr val="652825"/>
                </a:solidFill>
                <a:latin typeface="Sugo Display"/>
                <a:ea typeface="Sugo Display"/>
                <a:cs typeface="Sugo Display"/>
                <a:sym typeface="Sugo Display"/>
              </a:rPr>
              <a:t>Tel</a:t>
            </a:r>
            <a:r>
              <a:rPr lang="en-US" sz="5400" spc="10" dirty="0">
                <a:solidFill>
                  <a:srgbClr val="000000"/>
                </a:solidFill>
                <a:latin typeface="Sugo Display"/>
                <a:ea typeface="Sugo Display"/>
                <a:cs typeface="Sugo Display"/>
                <a:sym typeface="Sugo Display"/>
              </a:rPr>
              <a:t> </a:t>
            </a:r>
            <a:r>
              <a:rPr lang="en-US" sz="5400" spc="10" dirty="0">
                <a:solidFill>
                  <a:srgbClr val="652825"/>
                </a:solidFill>
                <a:latin typeface="Sugo Display"/>
                <a:ea typeface="Sugo Display"/>
                <a:cs typeface="Sugo Display"/>
                <a:sym typeface="Sugo Display"/>
              </a:rPr>
              <a:t>Aviv</a:t>
            </a:r>
            <a:r>
              <a:rPr lang="en-US" sz="5400" spc="10" dirty="0">
                <a:solidFill>
                  <a:srgbClr val="000000"/>
                </a:solidFill>
                <a:latin typeface="Sugo Display"/>
                <a:ea typeface="Sugo Display"/>
                <a:cs typeface="Sugo Display"/>
                <a:sym typeface="Sugo Display"/>
              </a:rPr>
              <a:t> </a:t>
            </a:r>
            <a:r>
              <a:rPr lang="en-US" sz="5400" spc="10" dirty="0">
                <a:solidFill>
                  <a:srgbClr val="652825"/>
                </a:solidFill>
                <a:latin typeface="Sugo Display"/>
                <a:ea typeface="Sugo Display"/>
                <a:cs typeface="Sugo Display"/>
                <a:sym typeface="Sugo Display"/>
              </a:rPr>
              <a:t>University,</a:t>
            </a:r>
            <a:r>
              <a:rPr lang="en-US" sz="5400" spc="10" dirty="0">
                <a:solidFill>
                  <a:srgbClr val="000000"/>
                </a:solidFill>
                <a:latin typeface="Sugo Display"/>
                <a:ea typeface="Sugo Display"/>
                <a:cs typeface="Sugo Display"/>
                <a:sym typeface="Sugo Display"/>
              </a:rPr>
              <a:t> </a:t>
            </a:r>
            <a:r>
              <a:rPr lang="en-US" sz="5400" spc="10" dirty="0">
                <a:solidFill>
                  <a:srgbClr val="652825"/>
                </a:solidFill>
                <a:latin typeface="Sugo Display"/>
                <a:ea typeface="Sugo Display"/>
                <a:cs typeface="Sugo Display"/>
                <a:sym typeface="Sugo Display"/>
              </a:rPr>
              <a:t>Israel</a:t>
            </a:r>
          </a:p>
        </p:txBody>
      </p:sp>
      <p:sp>
        <p:nvSpPr>
          <p:cNvPr id="29" name="TextBox 29"/>
          <p:cNvSpPr txBox="1"/>
          <p:nvPr/>
        </p:nvSpPr>
        <p:spPr>
          <a:xfrm>
            <a:off x="302613" y="22870611"/>
            <a:ext cx="12599078" cy="1971374"/>
          </a:xfrm>
          <a:prstGeom prst="rect">
            <a:avLst/>
          </a:prstGeom>
        </p:spPr>
        <p:txBody>
          <a:bodyPr wrap="square" lIns="0" tIns="0" rIns="0" bIns="0" rtlCol="0" anchor="t">
            <a:spAutoFit/>
          </a:bodyPr>
          <a:lstStyle/>
          <a:p>
            <a:pPr algn="just">
              <a:lnSpc>
                <a:spcPts val="3054"/>
              </a:lnSpc>
            </a:pPr>
            <a:r>
              <a:rPr lang="en-US" sz="2550" b="1" spc="5" dirty="0">
                <a:solidFill>
                  <a:srgbClr val="652825"/>
                </a:solidFill>
                <a:latin typeface="IBM Plex Sans Condensed Bold"/>
                <a:ea typeface="IBM Plex Sans Condensed Bold"/>
                <a:cs typeface="IBM Plex Sans Condensed Bold"/>
                <a:sym typeface="IBM Plex Sans Condensed Bold"/>
              </a:rPr>
              <a:t>The</a:t>
            </a:r>
            <a:r>
              <a:rPr lang="en-US" sz="2550" b="1" spc="5" dirty="0">
                <a:solidFill>
                  <a:srgbClr val="000000"/>
                </a:solidFill>
                <a:latin typeface="IBM Plex Sans Condensed Bold"/>
                <a:ea typeface="IBM Plex Sans Condensed Bold"/>
                <a:cs typeface="IBM Plex Sans Condensed Bold"/>
                <a:sym typeface="IBM Plex Sans Condensed Bold"/>
              </a:rPr>
              <a:t> </a:t>
            </a:r>
            <a:r>
              <a:rPr lang="en-US" sz="2550" b="1" spc="5" dirty="0">
                <a:solidFill>
                  <a:srgbClr val="652825"/>
                </a:solidFill>
                <a:latin typeface="IBM Plex Sans Condensed Bold"/>
                <a:ea typeface="IBM Plex Sans Condensed Bold"/>
                <a:cs typeface="IBM Plex Sans Condensed Bold"/>
                <a:sym typeface="IBM Plex Sans Condensed Bold"/>
              </a:rPr>
              <a:t>Steinhardt</a:t>
            </a:r>
            <a:r>
              <a:rPr lang="en-US" sz="2550" b="1" spc="5" dirty="0">
                <a:solidFill>
                  <a:srgbClr val="000000"/>
                </a:solidFill>
                <a:latin typeface="IBM Plex Sans Condensed Bold"/>
                <a:ea typeface="IBM Plex Sans Condensed Bold"/>
                <a:cs typeface="IBM Plex Sans Condensed Bold"/>
                <a:sym typeface="IBM Plex Sans Condensed Bold"/>
              </a:rPr>
              <a:t> </a:t>
            </a:r>
            <a:r>
              <a:rPr lang="en-US" sz="2550" b="1" spc="5" dirty="0">
                <a:solidFill>
                  <a:srgbClr val="652825"/>
                </a:solidFill>
                <a:latin typeface="IBM Plex Sans Condensed Bold"/>
                <a:ea typeface="IBM Plex Sans Condensed Bold"/>
                <a:cs typeface="IBM Plex Sans Condensed Bold"/>
                <a:sym typeface="IBM Plex Sans Condensed Bold"/>
              </a:rPr>
              <a:t>Museum</a:t>
            </a:r>
            <a:r>
              <a:rPr lang="en-US" sz="2550" b="1" spc="5" dirty="0">
                <a:solidFill>
                  <a:srgbClr val="000000"/>
                </a:solidFill>
                <a:latin typeface="IBM Plex Sans Condensed Bold"/>
                <a:ea typeface="IBM Plex Sans Condensed Bold"/>
                <a:cs typeface="IBM Plex Sans Condensed Bold"/>
                <a:sym typeface="IBM Plex Sans Condensed Bold"/>
              </a:rPr>
              <a:t> </a:t>
            </a:r>
            <a:r>
              <a:rPr lang="en-US" sz="2550" b="1" spc="5" dirty="0">
                <a:solidFill>
                  <a:srgbClr val="652825"/>
                </a:solidFill>
                <a:latin typeface="IBM Plex Sans Condensed Bold"/>
                <a:ea typeface="IBM Plex Sans Condensed Bold"/>
                <a:cs typeface="IBM Plex Sans Condensed Bold"/>
                <a:sym typeface="IBM Plex Sans Condensed Bold"/>
              </a:rPr>
              <a:t>of</a:t>
            </a:r>
            <a:r>
              <a:rPr lang="en-US" sz="2550" b="1" spc="5" dirty="0">
                <a:solidFill>
                  <a:srgbClr val="000000"/>
                </a:solidFill>
                <a:latin typeface="IBM Plex Sans Condensed Bold"/>
                <a:ea typeface="IBM Plex Sans Condensed Bold"/>
                <a:cs typeface="IBM Plex Sans Condensed Bold"/>
                <a:sym typeface="IBM Plex Sans Condensed Bold"/>
              </a:rPr>
              <a:t> </a:t>
            </a:r>
            <a:r>
              <a:rPr lang="en-US" sz="2550" b="1" spc="5" dirty="0">
                <a:solidFill>
                  <a:srgbClr val="652825"/>
                </a:solidFill>
                <a:latin typeface="IBM Plex Sans Condensed Bold"/>
                <a:ea typeface="IBM Plex Sans Condensed Bold"/>
                <a:cs typeface="IBM Plex Sans Condensed Bold"/>
                <a:sym typeface="IBM Plex Sans Condensed Bold"/>
              </a:rPr>
              <a:t>National</a:t>
            </a:r>
            <a:r>
              <a:rPr lang="en-US" sz="2550" b="1" spc="5" dirty="0">
                <a:solidFill>
                  <a:srgbClr val="000000"/>
                </a:solidFill>
                <a:latin typeface="IBM Plex Sans Condensed Bold"/>
                <a:ea typeface="IBM Plex Sans Condensed Bold"/>
                <a:cs typeface="IBM Plex Sans Condensed Bold"/>
                <a:sym typeface="IBM Plex Sans Condensed Bold"/>
              </a:rPr>
              <a:t> </a:t>
            </a:r>
            <a:r>
              <a:rPr lang="en-US" sz="2550" b="1" spc="5" dirty="0">
                <a:solidFill>
                  <a:srgbClr val="652825"/>
                </a:solidFill>
                <a:latin typeface="IBM Plex Sans Condensed Bold"/>
                <a:ea typeface="IBM Plex Sans Condensed Bold"/>
                <a:cs typeface="IBM Plex Sans Condensed Bold"/>
                <a:sym typeface="IBM Plex Sans Condensed Bold"/>
              </a:rPr>
              <a:t>History</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is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Israel's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national center</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for</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biodiversity</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studies.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It</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collects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and</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catalogues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millions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of specimens. Hundreds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scientists,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graduate</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students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and</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professionals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from Israel</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and</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abroad</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use</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the</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collections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for</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basic</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and</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applied</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research in</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the</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fields</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of</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natural</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history</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and</a:t>
            </a:r>
            <a:r>
              <a:rPr lang="en-US" sz="2550" spc="5" dirty="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conservation. </a:t>
            </a:r>
            <a:endParaRPr lang="en-US" sz="2550" spc="5" dirty="0" smtClean="0">
              <a:solidFill>
                <a:srgbClr val="652825"/>
              </a:solidFill>
              <a:latin typeface="IBM Plex Sans Condensed"/>
              <a:ea typeface="IBM Plex Sans Condensed"/>
              <a:cs typeface="IBM Plex Sans Condensed"/>
              <a:sym typeface="IBM Plex Sans Condensed"/>
            </a:endParaRPr>
          </a:p>
          <a:p>
            <a:pPr algn="just">
              <a:lnSpc>
                <a:spcPts val="3054"/>
              </a:lnSpc>
            </a:pPr>
            <a:r>
              <a:rPr lang="en-US" sz="2550" spc="5" dirty="0" smtClean="0">
                <a:solidFill>
                  <a:srgbClr val="652825"/>
                </a:solidFill>
                <a:latin typeface="IBM Plex Sans Condensed"/>
                <a:ea typeface="IBM Plex Sans Condensed"/>
                <a:cs typeface="IBM Plex Sans Condensed"/>
                <a:sym typeface="IBM Plex Sans Condensed"/>
              </a:rPr>
              <a:t>Further</a:t>
            </a:r>
            <a:r>
              <a:rPr lang="en-US" sz="2550" spc="5" dirty="0" smtClean="0">
                <a:solidFill>
                  <a:srgbClr val="000000"/>
                </a:solidFill>
                <a:latin typeface="IBM Plex Sans Condensed"/>
                <a:ea typeface="IBM Plex Sans Condensed"/>
                <a:cs typeface="IBM Plex Sans Condensed"/>
                <a:sym typeface="IBM Plex Sans Condensed"/>
              </a:rPr>
              <a:t> </a:t>
            </a:r>
            <a:r>
              <a:rPr lang="en-US" sz="2550" spc="5" dirty="0">
                <a:solidFill>
                  <a:srgbClr val="652825"/>
                </a:solidFill>
                <a:latin typeface="IBM Plex Sans Condensed"/>
                <a:ea typeface="IBM Plex Sans Condensed"/>
                <a:cs typeface="IBM Plex Sans Condensed"/>
                <a:sym typeface="IBM Plex Sans Condensed"/>
              </a:rPr>
              <a:t>details:</a:t>
            </a:r>
            <a:r>
              <a:rPr lang="en-US" sz="2550" b="1" spc="5" dirty="0">
                <a:solidFill>
                  <a:srgbClr val="000000"/>
                </a:solidFill>
                <a:latin typeface="IBM Plex Sans Condensed Bold"/>
                <a:ea typeface="IBM Plex Sans Condensed Bold"/>
                <a:cs typeface="IBM Plex Sans Condensed Bold"/>
                <a:sym typeface="IBM Plex Sans Condensed Bold"/>
              </a:rPr>
              <a:t> </a:t>
            </a:r>
            <a:r>
              <a:rPr lang="en-US" sz="2550" b="1" spc="5" dirty="0">
                <a:solidFill>
                  <a:srgbClr val="652825"/>
                </a:solidFill>
                <a:latin typeface="IBM Plex Sans Condensed Bold"/>
                <a:ea typeface="IBM Plex Sans Condensed Bold"/>
                <a:cs typeface="IBM Plex Sans Condensed Bold"/>
                <a:sym typeface="IBM Plex Sans Condensed Bold"/>
              </a:rPr>
              <a:t>smnh@tauex.tau.ac.il. </a:t>
            </a:r>
            <a:endParaRPr lang="en-US" sz="2550" spc="5" dirty="0">
              <a:solidFill>
                <a:srgbClr val="652825"/>
              </a:solidFill>
              <a:latin typeface="IBM Plex Sans Condensed"/>
              <a:ea typeface="IBM Plex Sans Condensed"/>
              <a:cs typeface="IBM Plex Sans Condensed"/>
              <a:sym typeface="IBM Plex Sans Condensed"/>
            </a:endParaRPr>
          </a:p>
        </p:txBody>
      </p:sp>
      <p:sp>
        <p:nvSpPr>
          <p:cNvPr id="30" name="TextBox 30"/>
          <p:cNvSpPr txBox="1"/>
          <p:nvPr/>
        </p:nvSpPr>
        <p:spPr>
          <a:xfrm>
            <a:off x="3830612" y="7825988"/>
            <a:ext cx="95755" cy="539801"/>
          </a:xfrm>
          <a:prstGeom prst="rect">
            <a:avLst/>
          </a:prstGeom>
        </p:spPr>
        <p:txBody>
          <a:bodyPr lIns="0" tIns="0" rIns="0" bIns="0" rtlCol="0" anchor="t">
            <a:spAutoFit/>
          </a:bodyPr>
          <a:lstStyle/>
          <a:p>
            <a:pPr algn="l">
              <a:lnSpc>
                <a:spcPts val="4494"/>
              </a:lnSpc>
            </a:pPr>
            <a:r>
              <a:rPr lang="en-US" sz="3695" spc="7">
                <a:solidFill>
                  <a:srgbClr val="652825"/>
                </a:solidFill>
                <a:latin typeface="IBM Plex Sans Condensed"/>
                <a:ea typeface="IBM Plex Sans Condensed"/>
                <a:cs typeface="IBM Plex Sans Condensed"/>
                <a:sym typeface="IBM Plex Sans Condensed"/>
              </a:rPr>
              <a:t> </a:t>
            </a:r>
          </a:p>
        </p:txBody>
      </p:sp>
      <p:sp>
        <p:nvSpPr>
          <p:cNvPr id="31" name="TextBox 31"/>
          <p:cNvSpPr txBox="1"/>
          <p:nvPr/>
        </p:nvSpPr>
        <p:spPr>
          <a:xfrm>
            <a:off x="16732395" y="22075601"/>
            <a:ext cx="2539855" cy="346249"/>
          </a:xfrm>
          <a:prstGeom prst="rect">
            <a:avLst/>
          </a:prstGeom>
        </p:spPr>
        <p:txBody>
          <a:bodyPr wrap="square" lIns="0" tIns="0" rIns="0" bIns="0" rtlCol="0" anchor="t">
            <a:spAutoFit/>
          </a:bodyPr>
          <a:lstStyle/>
          <a:p>
            <a:pPr algn="l">
              <a:lnSpc>
                <a:spcPts val="2654"/>
              </a:lnSpc>
            </a:pPr>
            <a:r>
              <a:rPr lang="en-US" sz="2000" i="1" dirty="0">
                <a:sym typeface="Bernoru SemiCondensed"/>
              </a:rPr>
              <a:t>Macowanites</a:t>
            </a:r>
            <a:r>
              <a:rPr lang="en-US" sz="1895" spc="3" dirty="0">
                <a:solidFill>
                  <a:srgbClr val="000000"/>
                </a:solidFill>
                <a:latin typeface="Bernoru SemiCondensed"/>
                <a:ea typeface="Bernoru SemiCondensed"/>
                <a:cs typeface="Bernoru SemiCondensed"/>
                <a:sym typeface="Bernoru SemiCondensed"/>
              </a:rPr>
              <a:t> </a:t>
            </a:r>
            <a:r>
              <a:rPr lang="en-US" sz="2000" i="1" dirty="0">
                <a:sym typeface="Bernoru SemiCondensed"/>
              </a:rPr>
              <a:t>galileensis</a:t>
            </a:r>
          </a:p>
        </p:txBody>
      </p:sp>
      <p:sp>
        <p:nvSpPr>
          <p:cNvPr id="32" name="TextBox 32"/>
          <p:cNvSpPr txBox="1"/>
          <p:nvPr/>
        </p:nvSpPr>
        <p:spPr>
          <a:xfrm>
            <a:off x="13785850" y="22075601"/>
            <a:ext cx="1777611" cy="346249"/>
          </a:xfrm>
          <a:prstGeom prst="rect">
            <a:avLst/>
          </a:prstGeom>
        </p:spPr>
        <p:txBody>
          <a:bodyPr wrap="square" lIns="0" tIns="0" rIns="0" bIns="0" rtlCol="0" anchor="t">
            <a:spAutoFit/>
          </a:bodyPr>
          <a:lstStyle/>
          <a:p>
            <a:pPr>
              <a:lnSpc>
                <a:spcPts val="2654"/>
              </a:lnSpc>
            </a:pPr>
            <a:r>
              <a:rPr lang="en-US" sz="2000" i="1" dirty="0">
                <a:sym typeface="Bernoru SemiCondensed"/>
              </a:rPr>
              <a:t>Boletus reichertii</a:t>
            </a:r>
          </a:p>
        </p:txBody>
      </p:sp>
      <p:sp>
        <p:nvSpPr>
          <p:cNvPr id="33" name="TextBox 33"/>
          <p:cNvSpPr txBox="1"/>
          <p:nvPr/>
        </p:nvSpPr>
        <p:spPr>
          <a:xfrm>
            <a:off x="10204450" y="22075601"/>
            <a:ext cx="2126957" cy="346249"/>
          </a:xfrm>
          <a:prstGeom prst="rect">
            <a:avLst/>
          </a:prstGeom>
        </p:spPr>
        <p:txBody>
          <a:bodyPr wrap="square" lIns="0" tIns="0" rIns="0" bIns="0" rtlCol="0" anchor="t">
            <a:spAutoFit/>
          </a:bodyPr>
          <a:lstStyle/>
          <a:p>
            <a:pPr algn="l">
              <a:lnSpc>
                <a:spcPts val="2654"/>
              </a:lnSpc>
            </a:pPr>
            <a:r>
              <a:rPr lang="en-US" sz="2000" i="1" dirty="0">
                <a:sym typeface="Bernoru SemiCondensed"/>
              </a:rPr>
              <a:t>Russula</a:t>
            </a:r>
            <a:r>
              <a:rPr lang="en-US" sz="2000" spc="3" dirty="0">
                <a:solidFill>
                  <a:srgbClr val="000000"/>
                </a:solidFill>
                <a:latin typeface="Bernoru SemiCondensed"/>
                <a:ea typeface="Bernoru SemiCondensed"/>
                <a:cs typeface="Bernoru SemiCondensed"/>
                <a:sym typeface="Bernoru SemiCondensed"/>
              </a:rPr>
              <a:t> </a:t>
            </a:r>
            <a:r>
              <a:rPr lang="en-US" sz="2000" i="1" dirty="0">
                <a:sym typeface="Bernoru SemiCondensed"/>
              </a:rPr>
              <a:t>carmelensis</a:t>
            </a:r>
          </a:p>
        </p:txBody>
      </p:sp>
      <p:sp>
        <p:nvSpPr>
          <p:cNvPr id="34" name="TextBox 34"/>
          <p:cNvSpPr txBox="1"/>
          <p:nvPr/>
        </p:nvSpPr>
        <p:spPr>
          <a:xfrm>
            <a:off x="10785186" y="14654733"/>
            <a:ext cx="8055119" cy="2710999"/>
          </a:xfrm>
          <a:prstGeom prst="rect">
            <a:avLst/>
          </a:prstGeom>
        </p:spPr>
        <p:txBody>
          <a:bodyPr lIns="0" tIns="0" rIns="0" bIns="0" rtlCol="0" anchor="t">
            <a:spAutoFit/>
          </a:bodyPr>
          <a:lstStyle/>
          <a:p>
            <a:pPr marL="0" lvl="0" indent="0" algn="ctr">
              <a:lnSpc>
                <a:spcPct val="150000"/>
              </a:lnSpc>
              <a:spcBef>
                <a:spcPct val="0"/>
              </a:spcBef>
            </a:pPr>
            <a:r>
              <a:rPr lang="en-US" sz="2400" spc="4" dirty="0">
                <a:solidFill>
                  <a:srgbClr val="000000"/>
                </a:solidFill>
                <a:latin typeface="Alike Bold"/>
                <a:ea typeface="Alike Bold"/>
                <a:cs typeface="Alike Bold"/>
                <a:sym typeface="Alike Bold"/>
              </a:rPr>
              <a:t>To support the morphological identification of the specimens, DNA was extracted, amplified using ITS1 and ITS4 and sequences were identified by performing a search against the nucleotide collection in GenBank. Sequences were submitted to GenBank.</a:t>
            </a:r>
          </a:p>
        </p:txBody>
      </p:sp>
      <p:sp>
        <p:nvSpPr>
          <p:cNvPr id="35" name="TextBox 35"/>
          <p:cNvSpPr txBox="1"/>
          <p:nvPr/>
        </p:nvSpPr>
        <p:spPr>
          <a:xfrm>
            <a:off x="10848684" y="10569520"/>
            <a:ext cx="7928122" cy="3877985"/>
          </a:xfrm>
          <a:prstGeom prst="rect">
            <a:avLst/>
          </a:prstGeom>
        </p:spPr>
        <p:txBody>
          <a:bodyPr wrap="square" lIns="0" tIns="0" rIns="0" bIns="0" rtlCol="0" anchor="t">
            <a:spAutoFit/>
          </a:bodyPr>
          <a:lstStyle/>
          <a:p>
            <a:pPr algn="ctr">
              <a:lnSpc>
                <a:spcPct val="150000"/>
              </a:lnSpc>
              <a:spcBef>
                <a:spcPct val="0"/>
              </a:spcBef>
            </a:pPr>
            <a:r>
              <a:rPr lang="en-US" sz="2400" u="none" strike="noStrike" spc="4" dirty="0">
                <a:solidFill>
                  <a:srgbClr val="000000"/>
                </a:solidFill>
                <a:latin typeface="Alike Bold"/>
                <a:ea typeface="Alike Bold"/>
                <a:cs typeface="Alike Bold"/>
                <a:sym typeface="Alike Bold"/>
              </a:rPr>
              <a:t>The collection comprises approximately 7500 specimens of fungi, conserved in paper envelopes under required conservation </a:t>
            </a:r>
            <a:r>
              <a:rPr lang="en-US" sz="2400" spc="4" dirty="0" smtClean="0">
                <a:solidFill>
                  <a:srgbClr val="000000"/>
                </a:solidFill>
                <a:latin typeface="Alike Bold"/>
                <a:ea typeface="Alike Bold"/>
                <a:cs typeface="Alike Bold"/>
                <a:sym typeface="Alike Bold"/>
              </a:rPr>
              <a:t>conditions. The </a:t>
            </a:r>
            <a:r>
              <a:rPr lang="en-US" sz="2400" spc="4" dirty="0">
                <a:solidFill>
                  <a:srgbClr val="000000"/>
                </a:solidFill>
                <a:latin typeface="Alike Bold"/>
                <a:ea typeface="Alike Bold"/>
                <a:cs typeface="Alike Bold"/>
                <a:sym typeface="Alike Bold"/>
              </a:rPr>
              <a:t>collection encompasses species of ascomycetes, basidiomycetes mushrooms and slime molds, making it the largest mushroom collection of the Middle </a:t>
            </a:r>
            <a:r>
              <a:rPr lang="en-US" sz="2400" spc="4" dirty="0" smtClean="0">
                <a:solidFill>
                  <a:srgbClr val="000000"/>
                </a:solidFill>
                <a:latin typeface="Alike Bold"/>
                <a:ea typeface="Alike Bold"/>
                <a:cs typeface="Alike Bold"/>
                <a:sym typeface="Alike Bold"/>
              </a:rPr>
              <a:t>East. </a:t>
            </a:r>
            <a:r>
              <a:rPr lang="en-US" sz="2400" u="none" strike="noStrike" spc="4" dirty="0" smtClean="0">
                <a:solidFill>
                  <a:srgbClr val="000000"/>
                </a:solidFill>
                <a:latin typeface="Alike Bold"/>
                <a:ea typeface="Alike Bold"/>
                <a:cs typeface="Alike Bold"/>
                <a:sym typeface="Alike Bold"/>
              </a:rPr>
              <a:t>The </a:t>
            </a:r>
            <a:r>
              <a:rPr lang="en-US" sz="2400" u="none" strike="noStrike" spc="4" dirty="0">
                <a:solidFill>
                  <a:srgbClr val="000000"/>
                </a:solidFill>
                <a:latin typeface="Alike Bold"/>
                <a:ea typeface="Alike Bold"/>
                <a:cs typeface="Alike Bold"/>
                <a:sym typeface="Alike Bold"/>
              </a:rPr>
              <a:t>herbarium is listed in Index Herbarium under the acronym TELA.</a:t>
            </a:r>
          </a:p>
        </p:txBody>
      </p:sp>
      <p:pic>
        <p:nvPicPr>
          <p:cNvPr id="36" name="Picture 35"/>
          <p:cNvPicPr>
            <a:picLocks noChangeAspect="1"/>
          </p:cNvPicPr>
          <p:nvPr/>
        </p:nvPicPr>
        <p:blipFill>
          <a:blip r:embed="rId18"/>
          <a:stretch>
            <a:fillRect/>
          </a:stretch>
        </p:blipFill>
        <p:spPr>
          <a:xfrm>
            <a:off x="5311248" y="16325850"/>
            <a:ext cx="2750998" cy="2418126"/>
          </a:xfrm>
          <a:prstGeom prst="rect">
            <a:avLst/>
          </a:prstGeom>
        </p:spPr>
      </p:pic>
      <p:sp>
        <p:nvSpPr>
          <p:cNvPr id="39" name="Rectangle 38"/>
          <p:cNvSpPr/>
          <p:nvPr/>
        </p:nvSpPr>
        <p:spPr>
          <a:xfrm>
            <a:off x="11592953" y="9267309"/>
            <a:ext cx="2421497" cy="400110"/>
          </a:xfrm>
          <a:prstGeom prst="rect">
            <a:avLst/>
          </a:prstGeom>
        </p:spPr>
        <p:txBody>
          <a:bodyPr wrap="square">
            <a:spAutoFit/>
          </a:bodyPr>
          <a:lstStyle/>
          <a:p>
            <a:r>
              <a:rPr lang="en-US" sz="2000" i="1" dirty="0" smtClean="0"/>
              <a:t>Montagnea</a:t>
            </a:r>
            <a:r>
              <a:rPr lang="en-US" sz="2000" dirty="0" smtClean="0"/>
              <a:t> </a:t>
            </a:r>
            <a:r>
              <a:rPr lang="en-US" sz="2000" i="1" dirty="0" smtClean="0"/>
              <a:t>candollei</a:t>
            </a:r>
            <a:endParaRPr lang="en-US" sz="2000" i="1" dirty="0"/>
          </a:p>
        </p:txBody>
      </p:sp>
      <p:sp>
        <p:nvSpPr>
          <p:cNvPr id="40" name="TextBox 39"/>
          <p:cNvSpPr txBox="1"/>
          <p:nvPr/>
        </p:nvSpPr>
        <p:spPr>
          <a:xfrm>
            <a:off x="15095853" y="9296340"/>
            <a:ext cx="2851944" cy="400110"/>
          </a:xfrm>
          <a:prstGeom prst="rect">
            <a:avLst/>
          </a:prstGeom>
          <a:noFill/>
        </p:spPr>
        <p:txBody>
          <a:bodyPr wrap="square" rtlCol="0">
            <a:spAutoFit/>
          </a:bodyPr>
          <a:lstStyle/>
          <a:p>
            <a:r>
              <a:rPr lang="en-US" sz="2000" i="1" dirty="0"/>
              <a:t>Pseudoinonotus dryadeus</a:t>
            </a:r>
            <a:endParaRPr lang="en-US" sz="2000" dirty="0"/>
          </a:p>
        </p:txBody>
      </p:sp>
      <p:sp>
        <p:nvSpPr>
          <p:cNvPr id="41" name="TextBox 40"/>
          <p:cNvSpPr txBox="1"/>
          <p:nvPr/>
        </p:nvSpPr>
        <p:spPr>
          <a:xfrm>
            <a:off x="1849412" y="18764250"/>
            <a:ext cx="1981200" cy="400110"/>
          </a:xfrm>
          <a:prstGeom prst="rect">
            <a:avLst/>
          </a:prstGeom>
          <a:noFill/>
        </p:spPr>
        <p:txBody>
          <a:bodyPr wrap="square" rtlCol="0">
            <a:spAutoFit/>
          </a:bodyPr>
          <a:lstStyle/>
          <a:p>
            <a:r>
              <a:rPr lang="en-US" sz="2000" i="1" dirty="0"/>
              <a:t>Podaxis pistillaris</a:t>
            </a:r>
            <a:endParaRPr lang="en-US" sz="2000" dirty="0"/>
          </a:p>
        </p:txBody>
      </p:sp>
      <p:sp>
        <p:nvSpPr>
          <p:cNvPr id="42" name="TextBox 41"/>
          <p:cNvSpPr txBox="1"/>
          <p:nvPr/>
        </p:nvSpPr>
        <p:spPr>
          <a:xfrm>
            <a:off x="5012197" y="18764250"/>
            <a:ext cx="3179910" cy="400110"/>
          </a:xfrm>
          <a:prstGeom prst="rect">
            <a:avLst/>
          </a:prstGeom>
          <a:noFill/>
        </p:spPr>
        <p:txBody>
          <a:bodyPr wrap="square" rtlCol="0">
            <a:spAutoFit/>
          </a:bodyPr>
          <a:lstStyle/>
          <a:p>
            <a:r>
              <a:rPr lang="en-US" sz="2000" i="1" dirty="0"/>
              <a:t>Terfezia boudieri </a:t>
            </a:r>
            <a:r>
              <a:rPr lang="en-US" sz="2000" i="1" dirty="0" smtClean="0"/>
              <a:t>+ </a:t>
            </a:r>
            <a:r>
              <a:rPr lang="en-US" sz="2000" i="1" dirty="0"/>
              <a:t>Tirmania </a:t>
            </a:r>
            <a:endParaRPr lang="en-US" sz="2000" dirty="0"/>
          </a:p>
        </p:txBody>
      </p:sp>
      <p:sp>
        <p:nvSpPr>
          <p:cNvPr id="43" name="TextBox 42"/>
          <p:cNvSpPr txBox="1"/>
          <p:nvPr/>
        </p:nvSpPr>
        <p:spPr>
          <a:xfrm>
            <a:off x="1477771" y="22040850"/>
            <a:ext cx="2772519" cy="400110"/>
          </a:xfrm>
          <a:prstGeom prst="rect">
            <a:avLst/>
          </a:prstGeom>
          <a:noFill/>
        </p:spPr>
        <p:txBody>
          <a:bodyPr wrap="square" rtlCol="0">
            <a:spAutoFit/>
          </a:bodyPr>
          <a:lstStyle/>
          <a:p>
            <a:pPr rtl="1"/>
            <a:r>
              <a:rPr lang="en-US" sz="2000" i="1" dirty="0" smtClean="0"/>
              <a:t>Tirmania </a:t>
            </a:r>
            <a:r>
              <a:rPr lang="en-US" sz="2000" i="1" smtClean="0"/>
              <a:t>nivea</a:t>
            </a:r>
            <a:r>
              <a:rPr lang="en-US" sz="2000" i="1"/>
              <a:t> </a:t>
            </a:r>
            <a:r>
              <a:rPr lang="en-US" sz="2000" i="1" smtClean="0"/>
              <a:t>+ Terfezia</a:t>
            </a:r>
            <a:endParaRPr lang="en-US" sz="2000" dirty="0"/>
          </a:p>
        </p:txBody>
      </p:sp>
      <p:sp>
        <p:nvSpPr>
          <p:cNvPr id="44" name="TextBox 43"/>
          <p:cNvSpPr txBox="1"/>
          <p:nvPr/>
        </p:nvSpPr>
        <p:spPr>
          <a:xfrm>
            <a:off x="5120535" y="22040850"/>
            <a:ext cx="3138191" cy="400110"/>
          </a:xfrm>
          <a:prstGeom prst="rect">
            <a:avLst/>
          </a:prstGeom>
          <a:noFill/>
        </p:spPr>
        <p:txBody>
          <a:bodyPr wrap="square" rtlCol="0">
            <a:spAutoFit/>
          </a:bodyPr>
          <a:lstStyle/>
          <a:p>
            <a:r>
              <a:rPr lang="en-US" sz="2000" i="1" dirty="0"/>
              <a:t>Exsudoporus permagnificus</a:t>
            </a:r>
            <a:endParaRPr lang="en-US" sz="2000"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6454</TotalTime>
  <Words>314</Words>
  <Application>Microsoft Office PowerPoint</Application>
  <PresentationFormat>Custom</PresentationFormat>
  <Paragraphs>21</Paragraphs>
  <Slides>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vt:i4>
      </vt:variant>
    </vt:vector>
  </HeadingPairs>
  <TitlesOfParts>
    <vt:vector size="11" baseType="lpstr">
      <vt:lpstr>Alike Bold</vt:lpstr>
      <vt:lpstr>IBM Plex Sans Condensed Bold</vt:lpstr>
      <vt:lpstr>Kompot Display</vt:lpstr>
      <vt:lpstr>IBM Plex Sans Condensed</vt:lpstr>
      <vt:lpstr>Calibri</vt:lpstr>
      <vt:lpstr>Arial</vt:lpstr>
      <vt:lpstr>Bernoru SemiCondensed</vt:lpstr>
      <vt:lpstr>ABeeZee Bold</vt:lpstr>
      <vt:lpstr>Sugo Display</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לשלוח לאלירן -הפוסטר הקודם--.pdf</dc:title>
  <dc:creator>Eliran Buskila</dc:creator>
  <cp:lastModifiedBy>Eliran Buskila</cp:lastModifiedBy>
  <cp:revision>15</cp:revision>
  <dcterms:created xsi:type="dcterms:W3CDTF">2006-08-16T00:00:00Z</dcterms:created>
  <dcterms:modified xsi:type="dcterms:W3CDTF">2025-11-09T06:40:05Z</dcterms:modified>
  <dc:identifier>DAG3uyeZRqY</dc:identifier>
</cp:coreProperties>
</file>