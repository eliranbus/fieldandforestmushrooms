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0693400" cy="15113000"/>
  <p:notesSz cx="6858000" cy="9144000"/>
  <p:embeddedFontLst>
    <p:embeddedFont>
      <p:font typeface="Guttman Miryam" panose="02010301010101010101" pitchFamily="2" charset="-79"/>
      <p:regular r:id="rId3"/>
      <p:bold r:id="rId4"/>
    </p:embeddedFont>
    <p:embeddedFont>
      <p:font typeface="Canva Sans" panose="020B0604020202020204" charset="0"/>
      <p:regular r:id="rId5"/>
    </p:embeddedFont>
    <p:embeddedFont>
      <p:font typeface="Calibri" panose="020F0502020204030204" pitchFamily="34" charset="0"/>
      <p:regular r:id="rId6"/>
      <p:bold r:id="rId7"/>
      <p:italic r:id="rId8"/>
      <p:boldItalic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CBCB"/>
    <a:srgbClr val="E7E7E7"/>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0" d="100"/>
          <a:sy n="60" d="100"/>
        </p:scale>
        <p:origin x="648"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openxmlformats.org/officeDocument/2006/relationships/tableStyles" Target="tableStyles.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viewProps" Target="viewProps.xml"/><Relationship Id="rId5" Type="http://schemas.openxmlformats.org/officeDocument/2006/relationships/font" Target="fonts/font3.fntdata"/><Relationship Id="rId10" Type="http://schemas.openxmlformats.org/officeDocument/2006/relationships/presProps" Target="presProps.xml"/><Relationship Id="rId4" Type="http://schemas.openxmlformats.org/officeDocument/2006/relationships/font" Target="fonts/font2.fntdata"/><Relationship Id="rId9"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2.sv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4.svg"/><Relationship Id="rId10" Type="http://schemas.openxmlformats.org/officeDocument/2006/relationships/image" Target="../media/image8.svg"/><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E2D1"/>
        </a:solidFill>
        <a:effectLst/>
      </p:bgPr>
    </p:bg>
    <p:spTree>
      <p:nvGrpSpPr>
        <p:cNvPr id="1" name=""/>
        <p:cNvGrpSpPr/>
        <p:nvPr/>
      </p:nvGrpSpPr>
      <p:grpSpPr>
        <a:xfrm>
          <a:off x="0" y="0"/>
          <a:ext cx="0" cy="0"/>
          <a:chOff x="0" y="0"/>
          <a:chExt cx="0" cy="0"/>
        </a:xfrm>
      </p:grpSpPr>
      <p:sp>
        <p:nvSpPr>
          <p:cNvPr id="11" name="Freeform 11"/>
          <p:cNvSpPr/>
          <p:nvPr/>
        </p:nvSpPr>
        <p:spPr>
          <a:xfrm flipH="1" flipV="1">
            <a:off x="7734935" y="-1268429"/>
            <a:ext cx="4276800" cy="5801753"/>
          </a:xfrm>
          <a:custGeom>
            <a:avLst/>
            <a:gdLst/>
            <a:ahLst/>
            <a:cxnLst/>
            <a:rect l="l" t="t" r="r" b="b"/>
            <a:pathLst>
              <a:path w="4276800" h="5801753">
                <a:moveTo>
                  <a:pt x="4276800" y="5801753"/>
                </a:moveTo>
                <a:lnTo>
                  <a:pt x="0" y="5801753"/>
                </a:lnTo>
                <a:lnTo>
                  <a:pt x="0" y="0"/>
                </a:lnTo>
                <a:lnTo>
                  <a:pt x="4276800" y="0"/>
                </a:lnTo>
                <a:lnTo>
                  <a:pt x="4276800" y="5801753"/>
                </a:lnTo>
                <a:close/>
              </a:path>
            </a:pathLst>
          </a:custGeom>
          <a:blipFill>
            <a:blip r:embed="rId2">
              <a:extLst>
                <a:ext uri="{96DAC541-7B7A-43D3-8B79-37D633B846F1}">
                  <asvg:svgBlip xmlns:asvg="http://schemas.microsoft.com/office/drawing/2016/SVG/main" xmlns="" r:embed="rId5"/>
                </a:ext>
              </a:extLst>
            </a:blip>
            <a:stretch>
              <a:fillRect/>
            </a:stretch>
          </a:blipFill>
        </p:spPr>
      </p:sp>
      <p:sp>
        <p:nvSpPr>
          <p:cNvPr id="2" name="Freeform 2"/>
          <p:cNvSpPr/>
          <p:nvPr/>
        </p:nvSpPr>
        <p:spPr>
          <a:xfrm rot="5400000">
            <a:off x="-1383845" y="-1669142"/>
            <a:ext cx="5346949" cy="5881644"/>
          </a:xfrm>
          <a:custGeom>
            <a:avLst/>
            <a:gdLst/>
            <a:ahLst/>
            <a:cxnLst/>
            <a:rect l="l" t="t" r="r" b="b"/>
            <a:pathLst>
              <a:path w="5346949" h="5881644">
                <a:moveTo>
                  <a:pt x="0" y="0"/>
                </a:moveTo>
                <a:lnTo>
                  <a:pt x="5346948" y="0"/>
                </a:lnTo>
                <a:lnTo>
                  <a:pt x="5346948" y="5881644"/>
                </a:lnTo>
                <a:lnTo>
                  <a:pt x="0" y="5881644"/>
                </a:lnTo>
                <a:lnTo>
                  <a:pt x="0" y="0"/>
                </a:lnTo>
                <a:close/>
              </a:path>
            </a:pathLst>
          </a:custGeom>
          <a:blipFill>
            <a:blip r:embed="rId6">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400000" flipH="1" flipV="1">
            <a:off x="6397438" y="11109978"/>
            <a:ext cx="5346949" cy="5881644"/>
          </a:xfrm>
          <a:custGeom>
            <a:avLst/>
            <a:gdLst/>
            <a:ahLst/>
            <a:cxnLst/>
            <a:rect l="l" t="t" r="r" b="b"/>
            <a:pathLst>
              <a:path w="5346949" h="5881644">
                <a:moveTo>
                  <a:pt x="5346949" y="5881644"/>
                </a:moveTo>
                <a:lnTo>
                  <a:pt x="0" y="5881644"/>
                </a:lnTo>
                <a:lnTo>
                  <a:pt x="0" y="0"/>
                </a:lnTo>
                <a:lnTo>
                  <a:pt x="5346949" y="0"/>
                </a:lnTo>
                <a:lnTo>
                  <a:pt x="5346949" y="5881644"/>
                </a:lnTo>
                <a:close/>
              </a:path>
            </a:pathLst>
          </a:custGeom>
          <a:blipFill>
            <a:blip r:embed="rId6">
              <a:extLst>
                <a:ext uri="{96DAC541-7B7A-43D3-8B79-37D633B846F1}">
                  <asvg:svgBlip xmlns:asvg="http://schemas.microsoft.com/office/drawing/2016/SVG/main" xmlns="" r:embed="rId3"/>
                </a:ext>
              </a:extLst>
            </a:blip>
            <a:stretch>
              <a:fillRect/>
            </a:stretch>
          </a:blipFill>
        </p:spPr>
      </p:sp>
      <p:grpSp>
        <p:nvGrpSpPr>
          <p:cNvPr id="4" name="Group 4"/>
          <p:cNvGrpSpPr/>
          <p:nvPr/>
        </p:nvGrpSpPr>
        <p:grpSpPr>
          <a:xfrm>
            <a:off x="1069200" y="1069200"/>
            <a:ext cx="8553600" cy="12981600"/>
            <a:chOff x="0" y="0"/>
            <a:chExt cx="2167467" cy="3289514"/>
          </a:xfrm>
        </p:grpSpPr>
        <p:sp>
          <p:nvSpPr>
            <p:cNvPr id="5" name="Freeform 5"/>
            <p:cNvSpPr/>
            <p:nvPr/>
          </p:nvSpPr>
          <p:spPr>
            <a:xfrm>
              <a:off x="0" y="0"/>
              <a:ext cx="2167467" cy="3289514"/>
            </a:xfrm>
            <a:custGeom>
              <a:avLst/>
              <a:gdLst/>
              <a:ahLst/>
              <a:cxnLst/>
              <a:rect l="l" t="t" r="r" b="b"/>
              <a:pathLst>
                <a:path w="2167467" h="3289514">
                  <a:moveTo>
                    <a:pt x="47971" y="0"/>
                  </a:moveTo>
                  <a:lnTo>
                    <a:pt x="2119496" y="0"/>
                  </a:lnTo>
                  <a:cubicBezTo>
                    <a:pt x="2145990" y="0"/>
                    <a:pt x="2167467" y="21477"/>
                    <a:pt x="2167467" y="47971"/>
                  </a:cubicBezTo>
                  <a:lnTo>
                    <a:pt x="2167467" y="3241543"/>
                  </a:lnTo>
                  <a:cubicBezTo>
                    <a:pt x="2167467" y="3254266"/>
                    <a:pt x="2162413" y="3266467"/>
                    <a:pt x="2153416" y="3275464"/>
                  </a:cubicBezTo>
                  <a:cubicBezTo>
                    <a:pt x="2144420" y="3284460"/>
                    <a:pt x="2132219" y="3289514"/>
                    <a:pt x="2119496" y="3289514"/>
                  </a:cubicBezTo>
                  <a:lnTo>
                    <a:pt x="47971" y="3289514"/>
                  </a:lnTo>
                  <a:cubicBezTo>
                    <a:pt x="35248" y="3289514"/>
                    <a:pt x="23047" y="3284460"/>
                    <a:pt x="14050" y="3275464"/>
                  </a:cubicBezTo>
                  <a:cubicBezTo>
                    <a:pt x="5054" y="3266467"/>
                    <a:pt x="0" y="3254266"/>
                    <a:pt x="0" y="3241543"/>
                  </a:cubicBezTo>
                  <a:lnTo>
                    <a:pt x="0" y="47971"/>
                  </a:lnTo>
                  <a:cubicBezTo>
                    <a:pt x="0" y="35248"/>
                    <a:pt x="5054" y="23047"/>
                    <a:pt x="14050" y="14050"/>
                  </a:cubicBezTo>
                  <a:cubicBezTo>
                    <a:pt x="23047" y="5054"/>
                    <a:pt x="35248" y="0"/>
                    <a:pt x="47971" y="0"/>
                  </a:cubicBezTo>
                  <a:close/>
                </a:path>
              </a:pathLst>
            </a:custGeom>
            <a:solidFill>
              <a:srgbClr val="FFFFFF"/>
            </a:solidFill>
          </p:spPr>
        </p:sp>
        <p:sp>
          <p:nvSpPr>
            <p:cNvPr id="6" name="TextBox 6"/>
            <p:cNvSpPr txBox="1"/>
            <p:nvPr/>
          </p:nvSpPr>
          <p:spPr>
            <a:xfrm>
              <a:off x="0" y="-47625"/>
              <a:ext cx="2167467" cy="3337139"/>
            </a:xfrm>
            <a:prstGeom prst="rect">
              <a:avLst/>
            </a:prstGeom>
          </p:spPr>
          <p:txBody>
            <a:bodyPr lIns="50800" tIns="50800" rIns="50800" bIns="50800" rtlCol="0" anchor="ctr"/>
            <a:lstStyle/>
            <a:p>
              <a:pPr algn="ctr">
                <a:lnSpc>
                  <a:spcPts val="2800"/>
                </a:lnSpc>
                <a:spcBef>
                  <a:spcPct val="0"/>
                </a:spcBef>
              </a:pPr>
              <a:endParaRPr/>
            </a:p>
          </p:txBody>
        </p:sp>
      </p:grpSp>
      <p:grpSp>
        <p:nvGrpSpPr>
          <p:cNvPr id="7" name="Group 7"/>
          <p:cNvGrpSpPr/>
          <p:nvPr/>
        </p:nvGrpSpPr>
        <p:grpSpPr>
          <a:xfrm>
            <a:off x="1520194" y="1448984"/>
            <a:ext cx="7651613" cy="46302722"/>
            <a:chOff x="0" y="0"/>
            <a:chExt cx="1938905" cy="11733025"/>
          </a:xfrm>
        </p:grpSpPr>
        <p:sp>
          <p:nvSpPr>
            <p:cNvPr id="8" name="Freeform 8"/>
            <p:cNvSpPr/>
            <p:nvPr/>
          </p:nvSpPr>
          <p:spPr>
            <a:xfrm>
              <a:off x="0" y="0"/>
              <a:ext cx="1938905" cy="11733026"/>
            </a:xfrm>
            <a:custGeom>
              <a:avLst/>
              <a:gdLst/>
              <a:ahLst/>
              <a:cxnLst/>
              <a:rect l="l" t="t" r="r" b="b"/>
              <a:pathLst>
                <a:path w="1938905" h="11733026">
                  <a:moveTo>
                    <a:pt x="53626" y="0"/>
                  </a:moveTo>
                  <a:lnTo>
                    <a:pt x="1885279" y="0"/>
                  </a:lnTo>
                  <a:cubicBezTo>
                    <a:pt x="1914896" y="0"/>
                    <a:pt x="1938905" y="24009"/>
                    <a:pt x="1938905" y="53626"/>
                  </a:cubicBezTo>
                  <a:lnTo>
                    <a:pt x="1938905" y="11679400"/>
                  </a:lnTo>
                  <a:cubicBezTo>
                    <a:pt x="1938905" y="11709017"/>
                    <a:pt x="1914896" y="11733026"/>
                    <a:pt x="1885279" y="11733026"/>
                  </a:cubicBezTo>
                  <a:lnTo>
                    <a:pt x="53626" y="11733026"/>
                  </a:lnTo>
                  <a:cubicBezTo>
                    <a:pt x="24009" y="11733026"/>
                    <a:pt x="0" y="11709017"/>
                    <a:pt x="0" y="11679400"/>
                  </a:cubicBezTo>
                  <a:lnTo>
                    <a:pt x="0" y="53626"/>
                  </a:lnTo>
                  <a:cubicBezTo>
                    <a:pt x="0" y="24009"/>
                    <a:pt x="24009" y="0"/>
                    <a:pt x="53626" y="0"/>
                  </a:cubicBezTo>
                  <a:close/>
                </a:path>
              </a:pathLst>
            </a:custGeom>
            <a:solidFill>
              <a:srgbClr val="000000">
                <a:alpha val="0"/>
              </a:srgbClr>
            </a:solidFill>
            <a:ln w="38100" cap="rnd">
              <a:solidFill>
                <a:srgbClr val="992023"/>
              </a:solidFill>
              <a:prstDash val="solid"/>
              <a:round/>
            </a:ln>
          </p:spPr>
        </p:sp>
        <p:sp>
          <p:nvSpPr>
            <p:cNvPr id="9" name="TextBox 9"/>
            <p:cNvSpPr txBox="1"/>
            <p:nvPr/>
          </p:nvSpPr>
          <p:spPr>
            <a:xfrm>
              <a:off x="0" y="-38100"/>
              <a:ext cx="1938905" cy="11771125"/>
            </a:xfrm>
            <a:prstGeom prst="rect">
              <a:avLst/>
            </a:prstGeom>
          </p:spPr>
          <p:txBody>
            <a:bodyPr lIns="50800" tIns="50800" rIns="50800" bIns="50800" rtlCol="0" anchor="ctr"/>
            <a:lstStyle/>
            <a:p>
              <a:pPr algn="ctr">
                <a:lnSpc>
                  <a:spcPts val="3359"/>
                </a:lnSpc>
                <a:spcBef>
                  <a:spcPct val="0"/>
                </a:spcBef>
              </a:pPr>
              <a:endParaRPr lang="en-US" sz="2400" b="1" dirty="0">
                <a:solidFill>
                  <a:srgbClr val="000000"/>
                </a:solidFill>
                <a:latin typeface="Canva Sans"/>
                <a:ea typeface="Canva Sans"/>
                <a:cs typeface="Canva Sans"/>
                <a:sym typeface="Canva Sans"/>
              </a:endParaRPr>
            </a:p>
          </p:txBody>
        </p:sp>
      </p:grpSp>
      <p:sp>
        <p:nvSpPr>
          <p:cNvPr id="10" name="Freeform 10"/>
          <p:cNvSpPr/>
          <p:nvPr/>
        </p:nvSpPr>
        <p:spPr>
          <a:xfrm rot="-494120">
            <a:off x="-1088057" y="10492323"/>
            <a:ext cx="4276800" cy="5801753"/>
          </a:xfrm>
          <a:custGeom>
            <a:avLst/>
            <a:gdLst/>
            <a:ahLst/>
            <a:cxnLst/>
            <a:rect l="l" t="t" r="r" b="b"/>
            <a:pathLst>
              <a:path w="4276800" h="5801753">
                <a:moveTo>
                  <a:pt x="0" y="0"/>
                </a:moveTo>
                <a:lnTo>
                  <a:pt x="4276800" y="0"/>
                </a:lnTo>
                <a:lnTo>
                  <a:pt x="4276800" y="5801753"/>
                </a:lnTo>
                <a:lnTo>
                  <a:pt x="0" y="5801753"/>
                </a:lnTo>
                <a:lnTo>
                  <a:pt x="0" y="0"/>
                </a:lnTo>
                <a:close/>
              </a:path>
            </a:pathLst>
          </a:custGeom>
          <a:blipFill>
            <a:blip r:embed="rId2">
              <a:extLst>
                <a:ext uri="{96DAC541-7B7A-43D3-8B79-37D633B846F1}">
                  <asvg:svgBlip xmlns:asvg="http://schemas.microsoft.com/office/drawing/2016/SVG/main" xmlns="" r:embed="rId5"/>
                </a:ext>
              </a:extLst>
            </a:blip>
            <a:stretch>
              <a:fillRect/>
            </a:stretch>
          </a:blipFill>
        </p:spPr>
      </p:sp>
      <p:sp>
        <p:nvSpPr>
          <p:cNvPr id="13" name="Freeform 13"/>
          <p:cNvSpPr/>
          <p:nvPr/>
        </p:nvSpPr>
        <p:spPr>
          <a:xfrm>
            <a:off x="7740999" y="12136866"/>
            <a:ext cx="2158183" cy="1812537"/>
          </a:xfrm>
          <a:custGeom>
            <a:avLst/>
            <a:gdLst/>
            <a:ahLst/>
            <a:cxnLst/>
            <a:rect l="l" t="t" r="r" b="b"/>
            <a:pathLst>
              <a:path w="2158183" h="1812537">
                <a:moveTo>
                  <a:pt x="0" y="0"/>
                </a:moveTo>
                <a:lnTo>
                  <a:pt x="2158183" y="0"/>
                </a:lnTo>
                <a:lnTo>
                  <a:pt x="2158183" y="1812536"/>
                </a:lnTo>
                <a:lnTo>
                  <a:pt x="0" y="1812536"/>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4" name="Freeform 14"/>
          <p:cNvSpPr/>
          <p:nvPr/>
        </p:nvSpPr>
        <p:spPr>
          <a:xfrm>
            <a:off x="763714" y="10010327"/>
            <a:ext cx="1051830" cy="1030793"/>
          </a:xfrm>
          <a:custGeom>
            <a:avLst/>
            <a:gdLst/>
            <a:ahLst/>
            <a:cxnLst/>
            <a:rect l="l" t="t" r="r" b="b"/>
            <a:pathLst>
              <a:path w="1051830" h="1030793">
                <a:moveTo>
                  <a:pt x="0" y="0"/>
                </a:moveTo>
                <a:lnTo>
                  <a:pt x="1051830" y="0"/>
                </a:lnTo>
                <a:lnTo>
                  <a:pt x="1051830" y="1030793"/>
                </a:lnTo>
                <a:lnTo>
                  <a:pt x="0" y="1030793"/>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5" name="Freeform 15"/>
          <p:cNvSpPr/>
          <p:nvPr/>
        </p:nvSpPr>
        <p:spPr>
          <a:xfrm>
            <a:off x="9180744" y="4332068"/>
            <a:ext cx="1051830" cy="1030793"/>
          </a:xfrm>
          <a:custGeom>
            <a:avLst/>
            <a:gdLst/>
            <a:ahLst/>
            <a:cxnLst/>
            <a:rect l="l" t="t" r="r" b="b"/>
            <a:pathLst>
              <a:path w="1051830" h="1030793">
                <a:moveTo>
                  <a:pt x="0" y="0"/>
                </a:moveTo>
                <a:lnTo>
                  <a:pt x="1051830" y="0"/>
                </a:lnTo>
                <a:lnTo>
                  <a:pt x="1051830" y="1030793"/>
                </a:lnTo>
                <a:lnTo>
                  <a:pt x="0" y="1030793"/>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graphicFrame>
        <p:nvGraphicFramePr>
          <p:cNvPr id="16" name="Table 15"/>
          <p:cNvGraphicFramePr>
            <a:graphicFrameLocks noGrp="1"/>
          </p:cNvGraphicFramePr>
          <p:nvPr>
            <p:extLst>
              <p:ext uri="{D42A27DB-BD31-4B8C-83A1-F6EECF244321}">
                <p14:modId xmlns:p14="http://schemas.microsoft.com/office/powerpoint/2010/main" val="2356901500"/>
              </p:ext>
            </p:extLst>
          </p:nvPr>
        </p:nvGraphicFramePr>
        <p:xfrm>
          <a:off x="2374900" y="3820355"/>
          <a:ext cx="6019800" cy="8385058"/>
        </p:xfrm>
        <a:graphic>
          <a:graphicData uri="http://schemas.openxmlformats.org/drawingml/2006/table">
            <a:tbl>
              <a:tblPr firstRow="1" firstCol="1" bandRow="1">
                <a:tableStyleId>{073A0DAA-6AF3-43AB-8588-CEC1D06C72B9}</a:tableStyleId>
              </a:tblPr>
              <a:tblGrid>
                <a:gridCol w="3334113">
                  <a:extLst>
                    <a:ext uri="{9D8B030D-6E8A-4147-A177-3AD203B41FA5}">
                      <a16:colId xmlns:a16="http://schemas.microsoft.com/office/drawing/2014/main" val="3047992897"/>
                    </a:ext>
                  </a:extLst>
                </a:gridCol>
                <a:gridCol w="2685687">
                  <a:extLst>
                    <a:ext uri="{9D8B030D-6E8A-4147-A177-3AD203B41FA5}">
                      <a16:colId xmlns:a16="http://schemas.microsoft.com/office/drawing/2014/main" val="717140779"/>
                    </a:ext>
                  </a:extLst>
                </a:gridCol>
              </a:tblGrid>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Leucoagaricus cupresseoides</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tc>
                  <a:txBody>
                    <a:bodyPr/>
                    <a:lstStyle/>
                    <a:p>
                      <a:pPr algn="r" rtl="1">
                        <a:lnSpc>
                          <a:spcPct val="107000"/>
                        </a:lnSpc>
                        <a:spcAft>
                          <a:spcPts val="0"/>
                        </a:spcAft>
                      </a:pPr>
                      <a:r>
                        <a:rPr lang="he-IL" sz="2000" b="1" dirty="0">
                          <a:solidFill>
                            <a:schemeClr val="tx1"/>
                          </a:solidFill>
                          <a:effectLst/>
                          <a:latin typeface="Guttman Miryam" panose="02010301010101010101" pitchFamily="2" charset="-79"/>
                          <a:cs typeface="Guttman Miryam" panose="02010301010101010101" pitchFamily="2" charset="-79"/>
                        </a:rPr>
                        <a:t>לבקנית חומת כפה</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extLst>
                  <a:ext uri="{0D108BD9-81ED-4DB2-BD59-A6C34878D82A}">
                    <a16:rowId xmlns:a16="http://schemas.microsoft.com/office/drawing/2014/main" val="1163731713"/>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Torrendia pulchella</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CBCBCB"/>
                    </a:solidFill>
                  </a:tcPr>
                </a:tc>
                <a:tc>
                  <a:txBody>
                    <a:bodyPr/>
                    <a:lstStyle/>
                    <a:p>
                      <a:pPr algn="r" rtl="1">
                        <a:lnSpc>
                          <a:spcPct val="107000"/>
                        </a:lnSpc>
                        <a:spcAft>
                          <a:spcPts val="0"/>
                        </a:spcAft>
                      </a:pPr>
                      <a:r>
                        <a:rPr lang="he-IL" sz="2000" b="1" dirty="0">
                          <a:solidFill>
                            <a:schemeClr val="tx1"/>
                          </a:solidFill>
                          <a:effectLst/>
                          <a:latin typeface="Guttman Miryam" panose="02010301010101010101" pitchFamily="2" charset="-79"/>
                          <a:cs typeface="Guttman Miryam" panose="02010301010101010101" pitchFamily="2" charset="-79"/>
                        </a:rPr>
                        <a:t>טורנדיה</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4074643567"/>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Lepista panaeola</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tc>
                  <a:txBody>
                    <a:bodyPr/>
                    <a:lstStyle/>
                    <a:p>
                      <a:pPr algn="r" rtl="1">
                        <a:lnSpc>
                          <a:spcPct val="107000"/>
                        </a:lnSpc>
                        <a:spcAft>
                          <a:spcPts val="0"/>
                        </a:spcAft>
                      </a:pPr>
                      <a:r>
                        <a:rPr lang="he-IL" sz="2000" b="1" dirty="0">
                          <a:solidFill>
                            <a:schemeClr val="tx1"/>
                          </a:solidFill>
                          <a:effectLst/>
                          <a:latin typeface="Guttman Miryam" panose="02010301010101010101" pitchFamily="2" charset="-79"/>
                          <a:cs typeface="Guttman Miryam" panose="02010301010101010101" pitchFamily="2" charset="-79"/>
                        </a:rPr>
                        <a:t>אחלמית מנוקדת </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extLst>
                  <a:ext uri="{0D108BD9-81ED-4DB2-BD59-A6C34878D82A}">
                    <a16:rowId xmlns:a16="http://schemas.microsoft.com/office/drawing/2014/main" val="3924451328"/>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Cortinarius aleuriosmus</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CBCBCB"/>
                    </a:solidFill>
                  </a:tcPr>
                </a:tc>
                <a:tc>
                  <a:txBody>
                    <a:bodyPr/>
                    <a:lstStyle/>
                    <a:p>
                      <a:pPr algn="r" rtl="1">
                        <a:lnSpc>
                          <a:spcPct val="107000"/>
                        </a:lnSpc>
                        <a:spcAft>
                          <a:spcPts val="0"/>
                        </a:spcAft>
                      </a:pPr>
                      <a:r>
                        <a:rPr lang="he-IL" sz="2000" b="1" dirty="0">
                          <a:solidFill>
                            <a:schemeClr val="tx1"/>
                          </a:solidFill>
                          <a:effectLst/>
                          <a:latin typeface="Guttman Miryam" panose="02010301010101010101" pitchFamily="2" charset="-79"/>
                          <a:cs typeface="Guttman Miryam" panose="02010301010101010101" pitchFamily="2" charset="-79"/>
                        </a:rPr>
                        <a:t>הינומה לבנה</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475043692"/>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Phlegmacium aurilicis</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tc>
                  <a:txBody>
                    <a:bodyPr/>
                    <a:lstStyle/>
                    <a:p>
                      <a:pPr algn="r" rtl="1">
                        <a:lnSpc>
                          <a:spcPct val="107000"/>
                        </a:lnSpc>
                        <a:spcAft>
                          <a:spcPts val="0"/>
                        </a:spcAft>
                      </a:pPr>
                      <a:r>
                        <a:rPr lang="he-IL" sz="2000" b="1" dirty="0">
                          <a:solidFill>
                            <a:schemeClr val="tx1"/>
                          </a:solidFill>
                          <a:effectLst/>
                          <a:latin typeface="Guttman Miryam" panose="02010301010101010101" pitchFamily="2" charset="-79"/>
                          <a:cs typeface="Guttman Miryam" panose="02010301010101010101" pitchFamily="2" charset="-79"/>
                        </a:rPr>
                        <a:t>הינומה זהובה </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1861956194"/>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Phlegmacium caligatum</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CBCBCB"/>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הינומה ממוגפת</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2190390875"/>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Lulesia nigrescens</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גולשנית מאפירה</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4186314743"/>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Rhodocybe asanii</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CBCBCB"/>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גולשנית חוסאני</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1287836118"/>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Rhodocybe asyae</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גולשנית אסאייה</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1665423141"/>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Lacrymaria lacrymabunda</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CBCBCB"/>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שברירית נוטפת</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70796618"/>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Hebeloma subtortum</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ציצנית מפותלת</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581003230"/>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Leratiomyces squamosus</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CBCBCB"/>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אבנטית קשקשית</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2711577021"/>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Alessioporus ichnusanus</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לבדית סילבר.</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391320334"/>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Itajahya galericulata</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CBCBCB"/>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פינית כומתית</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3895990167"/>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Ganoderma mbrekobenum</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בהוקית אדמונית</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395579647"/>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Lactarius atlanticus</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CBCBCB"/>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נטופה אטלנתית</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285896372"/>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Lactarius ilicis</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נטופה חלבית </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3761545201"/>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Lactarius sanguifluus</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CBCBCB"/>
                    </a:solidFill>
                  </a:tcPr>
                </a:tc>
                <a:tc>
                  <a:txBody>
                    <a:bodyPr/>
                    <a:lstStyle/>
                    <a:p>
                      <a:pPr algn="r" rtl="1">
                        <a:lnSpc>
                          <a:spcPct val="107000"/>
                        </a:lnSpc>
                        <a:spcAft>
                          <a:spcPts val="0"/>
                        </a:spcAft>
                      </a:pPr>
                      <a:r>
                        <a:rPr lang="he-IL" sz="2000" b="1" dirty="0">
                          <a:solidFill>
                            <a:schemeClr val="tx1"/>
                          </a:solidFill>
                          <a:effectLst/>
                          <a:latin typeface="Guttman Miryam" panose="02010301010101010101" pitchFamily="2" charset="-79"/>
                          <a:cs typeface="Guttman Miryam" panose="02010301010101010101" pitchFamily="2" charset="-79"/>
                        </a:rPr>
                        <a:t>נטופה דמית</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333392733"/>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Hydnellum amygdaliolens</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שינונית שקדית</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38061184"/>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Geoglossum cookeanum</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CBCBCB"/>
                    </a:solidFill>
                  </a:tcPr>
                </a:tc>
                <a:tc>
                  <a:txBody>
                    <a:bodyPr/>
                    <a:lstStyle/>
                    <a:p>
                      <a:pPr algn="r" rtl="1">
                        <a:lnSpc>
                          <a:spcPct val="107000"/>
                        </a:lnSpc>
                        <a:spcAft>
                          <a:spcPts val="0"/>
                        </a:spcAft>
                      </a:pPr>
                      <a:r>
                        <a:rPr lang="he-IL" sz="2000" b="1">
                          <a:solidFill>
                            <a:schemeClr val="tx1"/>
                          </a:solidFill>
                          <a:effectLst/>
                          <a:latin typeface="Guttman Miryam" panose="02010301010101010101" pitchFamily="2" charset="-79"/>
                          <a:cs typeface="Guttman Miryam" panose="02010301010101010101" pitchFamily="2" charset="-79"/>
                        </a:rPr>
                        <a:t>לשונית אדמתית</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1450639631"/>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Tuber lusitanicum</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E7E7E7"/>
                    </a:solidFill>
                  </a:tcPr>
                </a:tc>
                <a:tc>
                  <a:txBody>
                    <a:bodyPr/>
                    <a:lstStyle/>
                    <a:p>
                      <a:pPr algn="r" rtl="0">
                        <a:lnSpc>
                          <a:spcPct val="107000"/>
                        </a:lnSpc>
                        <a:spcAft>
                          <a:spcPts val="0"/>
                        </a:spcAft>
                      </a:pPr>
                      <a:r>
                        <a:rPr lang="en-US" sz="2000" b="1">
                          <a:solidFill>
                            <a:schemeClr val="tx1"/>
                          </a:solidFill>
                          <a:effectLst/>
                          <a:cs typeface="Guttman Miryam" panose="02010301010101010101" pitchFamily="2" charset="-79"/>
                        </a:rPr>
                        <a:t>..</a:t>
                      </a:r>
                      <a:r>
                        <a:rPr lang="he-IL" sz="2000" b="1">
                          <a:solidFill>
                            <a:schemeClr val="tx1"/>
                          </a:solidFill>
                          <a:effectLst/>
                          <a:latin typeface="Guttman Miryam" panose="02010301010101010101" pitchFamily="2" charset="-79"/>
                          <a:cs typeface="Guttman Miryam" panose="02010301010101010101" pitchFamily="2" charset="-79"/>
                        </a:rPr>
                        <a:t>כמהת יער פורטוגלית</a:t>
                      </a:r>
                      <a:endParaRPr lang="en-US" sz="2000" b="1">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2970963061"/>
                  </a:ext>
                </a:extLst>
              </a:tr>
              <a:tr h="381139">
                <a:tc>
                  <a:txBody>
                    <a:bodyPr/>
                    <a:lstStyle/>
                    <a:p>
                      <a:pPr algn="l" rtl="0">
                        <a:lnSpc>
                          <a:spcPct val="107000"/>
                        </a:lnSpc>
                        <a:spcAft>
                          <a:spcPts val="0"/>
                        </a:spcAft>
                      </a:pPr>
                      <a:r>
                        <a:rPr lang="en-US" sz="2000" b="1" dirty="0">
                          <a:solidFill>
                            <a:schemeClr val="tx1"/>
                          </a:solidFill>
                          <a:effectLst/>
                          <a:cs typeface="Guttman Miryam" panose="02010301010101010101" pitchFamily="2" charset="-79"/>
                        </a:rPr>
                        <a:t>Xylaria sp</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solidFill>
                      <a:srgbClr val="CBCBCB"/>
                    </a:solidFill>
                  </a:tcPr>
                </a:tc>
                <a:tc>
                  <a:txBody>
                    <a:bodyPr/>
                    <a:lstStyle/>
                    <a:p>
                      <a:pPr algn="r" rtl="1">
                        <a:lnSpc>
                          <a:spcPct val="107000"/>
                        </a:lnSpc>
                        <a:spcAft>
                          <a:spcPts val="0"/>
                        </a:spcAft>
                      </a:pPr>
                      <a:r>
                        <a:rPr lang="he-IL" sz="2000" b="1" dirty="0">
                          <a:solidFill>
                            <a:schemeClr val="tx1"/>
                          </a:solidFill>
                          <a:effectLst/>
                          <a:latin typeface="Guttman Miryam" panose="02010301010101010101" pitchFamily="2" charset="-79"/>
                          <a:cs typeface="Guttman Miryam" panose="02010301010101010101" pitchFamily="2" charset="-79"/>
                        </a:rPr>
                        <a:t>עציונית-</a:t>
                      </a:r>
                      <a:endParaRPr lang="en-US" sz="2000" b="1" dirty="0">
                        <a:solidFill>
                          <a:schemeClr val="tx1"/>
                        </a:solidFill>
                        <a:effectLst/>
                        <a:latin typeface="Calibri" panose="020F0502020204030204" pitchFamily="34" charset="0"/>
                        <a:ea typeface="Calibri" panose="020F0502020204030204" pitchFamily="34" charset="0"/>
                        <a:cs typeface="Guttman Miryam" panose="02010301010101010101" pitchFamily="2" charset="-79"/>
                      </a:endParaRPr>
                    </a:p>
                  </a:txBody>
                  <a:tcPr marL="58680" marR="58680" marT="0" marB="0" anchor="b"/>
                </a:tc>
                <a:extLst>
                  <a:ext uri="{0D108BD9-81ED-4DB2-BD59-A6C34878D82A}">
                    <a16:rowId xmlns:a16="http://schemas.microsoft.com/office/drawing/2014/main" val="4004930101"/>
                  </a:ext>
                </a:extLst>
              </a:tr>
            </a:tbl>
          </a:graphicData>
        </a:graphic>
      </p:graphicFrame>
      <p:sp>
        <p:nvSpPr>
          <p:cNvPr id="17" name="Rectangle 1"/>
          <p:cNvSpPr>
            <a:spLocks noChangeArrowheads="1"/>
          </p:cNvSpPr>
          <p:nvPr/>
        </p:nvSpPr>
        <p:spPr bwMode="auto">
          <a:xfrm>
            <a:off x="1815543" y="2012457"/>
            <a:ext cx="7188757"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955925" algn="l"/>
              </a:tabLst>
              <a:defRPr>
                <a:solidFill>
                  <a:schemeClr val="tx1"/>
                </a:solidFill>
                <a:latin typeface="Arial" panose="020B0604020202020204" pitchFamily="34" charset="0"/>
              </a:defRPr>
            </a:lvl1pPr>
            <a:lvl2pPr eaLnBrk="0" fontAlgn="base" hangingPunct="0">
              <a:spcBef>
                <a:spcPct val="0"/>
              </a:spcBef>
              <a:spcAft>
                <a:spcPct val="0"/>
              </a:spcAft>
              <a:tabLst>
                <a:tab pos="2955925" algn="l"/>
              </a:tabLst>
              <a:defRPr>
                <a:solidFill>
                  <a:schemeClr val="tx1"/>
                </a:solidFill>
                <a:latin typeface="Arial" panose="020B0604020202020204" pitchFamily="34" charset="0"/>
              </a:defRPr>
            </a:lvl2pPr>
            <a:lvl3pPr eaLnBrk="0" fontAlgn="base" hangingPunct="0">
              <a:spcBef>
                <a:spcPct val="0"/>
              </a:spcBef>
              <a:spcAft>
                <a:spcPct val="0"/>
              </a:spcAft>
              <a:tabLst>
                <a:tab pos="2955925" algn="l"/>
              </a:tabLst>
              <a:defRPr>
                <a:solidFill>
                  <a:schemeClr val="tx1"/>
                </a:solidFill>
                <a:latin typeface="Arial" panose="020B0604020202020204" pitchFamily="34" charset="0"/>
              </a:defRPr>
            </a:lvl3pPr>
            <a:lvl4pPr eaLnBrk="0" fontAlgn="base" hangingPunct="0">
              <a:spcBef>
                <a:spcPct val="0"/>
              </a:spcBef>
              <a:spcAft>
                <a:spcPct val="0"/>
              </a:spcAft>
              <a:tabLst>
                <a:tab pos="2955925" algn="l"/>
              </a:tabLst>
              <a:defRPr>
                <a:solidFill>
                  <a:schemeClr val="tx1"/>
                </a:solidFill>
                <a:latin typeface="Arial" panose="020B0604020202020204" pitchFamily="34" charset="0"/>
              </a:defRPr>
            </a:lvl4pPr>
            <a:lvl5pPr eaLnBrk="0" fontAlgn="base" hangingPunct="0">
              <a:spcBef>
                <a:spcPct val="0"/>
              </a:spcBef>
              <a:spcAft>
                <a:spcPct val="0"/>
              </a:spcAft>
              <a:tabLst>
                <a:tab pos="2955925" algn="l"/>
              </a:tabLst>
              <a:defRPr>
                <a:solidFill>
                  <a:schemeClr val="tx1"/>
                </a:solidFill>
                <a:latin typeface="Arial" panose="020B0604020202020204" pitchFamily="34" charset="0"/>
              </a:defRPr>
            </a:lvl5pPr>
            <a:lvl6pPr eaLnBrk="0" fontAlgn="base" hangingPunct="0">
              <a:spcBef>
                <a:spcPct val="0"/>
              </a:spcBef>
              <a:spcAft>
                <a:spcPct val="0"/>
              </a:spcAft>
              <a:tabLst>
                <a:tab pos="2955925" algn="l"/>
              </a:tabLst>
              <a:defRPr>
                <a:solidFill>
                  <a:schemeClr val="tx1"/>
                </a:solidFill>
                <a:latin typeface="Arial" panose="020B0604020202020204" pitchFamily="34" charset="0"/>
              </a:defRPr>
            </a:lvl6pPr>
            <a:lvl7pPr eaLnBrk="0" fontAlgn="base" hangingPunct="0">
              <a:spcBef>
                <a:spcPct val="0"/>
              </a:spcBef>
              <a:spcAft>
                <a:spcPct val="0"/>
              </a:spcAft>
              <a:tabLst>
                <a:tab pos="2955925" algn="l"/>
              </a:tabLst>
              <a:defRPr>
                <a:solidFill>
                  <a:schemeClr val="tx1"/>
                </a:solidFill>
                <a:latin typeface="Arial" panose="020B0604020202020204" pitchFamily="34" charset="0"/>
              </a:defRPr>
            </a:lvl7pPr>
            <a:lvl8pPr eaLnBrk="0" fontAlgn="base" hangingPunct="0">
              <a:spcBef>
                <a:spcPct val="0"/>
              </a:spcBef>
              <a:spcAft>
                <a:spcPct val="0"/>
              </a:spcAft>
              <a:tabLst>
                <a:tab pos="2955925" algn="l"/>
              </a:tabLst>
              <a:defRPr>
                <a:solidFill>
                  <a:schemeClr val="tx1"/>
                </a:solidFill>
                <a:latin typeface="Arial" panose="020B0604020202020204" pitchFamily="34" charset="0"/>
              </a:defRPr>
            </a:lvl8pPr>
            <a:lvl9pPr eaLnBrk="0" fontAlgn="base" hangingPunct="0">
              <a:spcBef>
                <a:spcPct val="0"/>
              </a:spcBef>
              <a:spcAft>
                <a:spcPct val="0"/>
              </a:spcAft>
              <a:tabLst>
                <a:tab pos="2955925" algn="l"/>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955925" algn="l"/>
              </a:tabLst>
            </a:pPr>
            <a:r>
              <a:rPr kumimoji="0" lang="en-US" altLang="en-US" sz="2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The Steinhardt Museum of Natural History,</a:t>
            </a:r>
            <a:endParaRPr kumimoji="0" lang="en-US" altLang="en-US" sz="2600" b="0" i="0" u="none" strike="noStrike" cap="none" normalizeH="0" baseline="0" dirty="0" smtClean="0">
              <a:ln>
                <a:noFill/>
              </a:ln>
              <a:solidFill>
                <a:schemeClr val="tx1"/>
              </a:solidFill>
              <a:effectLst/>
            </a:endParaRPr>
          </a:p>
          <a:p>
            <a:pPr marL="0" marR="0" lvl="0" indent="0" algn="ctr" defTabSz="914400" rtl="1" eaLnBrk="0" fontAlgn="base" latinLnBrk="0" hangingPunct="0">
              <a:lnSpc>
                <a:spcPct val="100000"/>
              </a:lnSpc>
              <a:spcBef>
                <a:spcPct val="0"/>
              </a:spcBef>
              <a:spcAft>
                <a:spcPct val="0"/>
              </a:spcAft>
              <a:buClrTx/>
              <a:buSzTx/>
              <a:buFontTx/>
              <a:buNone/>
              <a:tabLst>
                <a:tab pos="2955925" algn="l"/>
              </a:tabLst>
            </a:pPr>
            <a:r>
              <a:rPr kumimoji="0" lang="en-US" altLang="en-US" sz="2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Tel Aviv University,Israel. </a:t>
            </a:r>
          </a:p>
          <a:p>
            <a:pPr marL="0" marR="0" lvl="0" indent="0" algn="ctr" defTabSz="914400" rtl="1" eaLnBrk="0" fontAlgn="base" latinLnBrk="0" hangingPunct="0">
              <a:lnSpc>
                <a:spcPct val="100000"/>
              </a:lnSpc>
              <a:spcBef>
                <a:spcPct val="0"/>
              </a:spcBef>
              <a:spcAft>
                <a:spcPct val="0"/>
              </a:spcAft>
              <a:buClrTx/>
              <a:buSzTx/>
              <a:buFontTx/>
              <a:buNone/>
              <a:tabLst>
                <a:tab pos="2955925" algn="l"/>
              </a:tabLst>
            </a:pPr>
            <a:endParaRPr kumimoji="0" lang="en-US" altLang="en-US" sz="2600" b="0" i="0" u="none" strike="noStrike" cap="none" normalizeH="0" baseline="0" dirty="0" smtClean="0">
              <a:ln>
                <a:noFill/>
              </a:ln>
              <a:solidFill>
                <a:schemeClr val="tx1"/>
              </a:solidFill>
              <a:effectLst/>
            </a:endParaRPr>
          </a:p>
          <a:p>
            <a:pPr lvl="0" algn="ctr"/>
            <a:r>
              <a:rPr lang="he-IL" altLang="en-US" sz="2400" b="1" dirty="0" smtClean="0">
                <a:latin typeface="Calibri" panose="020F0502020204030204" pitchFamily="34" charset="0"/>
                <a:ea typeface="Calibri" panose="020F0502020204030204" pitchFamily="34" charset="0"/>
              </a:rPr>
              <a:t>מינים </a:t>
            </a:r>
            <a:r>
              <a:rPr lang="he-IL" altLang="en-US" sz="2400" b="1" dirty="0">
                <a:latin typeface="Calibri" panose="020F0502020204030204" pitchFamily="34" charset="0"/>
                <a:ea typeface="Calibri" panose="020F0502020204030204" pitchFamily="34" charset="0"/>
              </a:rPr>
              <a:t>שנבדקו גנטית ופורסמו לראשונה </a:t>
            </a:r>
            <a:r>
              <a:rPr lang="he-IL" altLang="en-US" sz="2400" b="1" dirty="0" smtClean="0">
                <a:latin typeface="Calibri" panose="020F0502020204030204" pitchFamily="34" charset="0"/>
                <a:ea typeface="Calibri" panose="020F0502020204030204" pitchFamily="34" charset="0"/>
              </a:rPr>
              <a:t>בישראל:</a:t>
            </a:r>
            <a:endParaRPr kumimoji="0" lang="en-US" altLang="en-US" sz="2400" b="0" i="0" u="none" strike="noStrike" cap="none" normalizeH="0" baseline="0" dirty="0" smtClean="0">
              <a:ln>
                <a:noFill/>
              </a:ln>
              <a:solidFill>
                <a:schemeClr val="tx1"/>
              </a:solidFill>
              <a:effectLst/>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108</Words>
  <Application>Microsoft Office PowerPoint</Application>
  <PresentationFormat>Custom</PresentationFormat>
  <Paragraphs>48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Guttman Miryam</vt:lpstr>
      <vt:lpstr>Canva Sans</vt:lpstr>
      <vt:lpstr>Calibri</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Steinhardt Museum of Natural History, Tel Aviv University,Israel. מינים שנבדקו גנטית ופורסמו לראשונה בישראל. Leucoagaricus cupresseoides לבקנית חומת כפה Torrendia pulchella טורנדיה Lepista panaeola אחלמית מנוקדת Cortinarius aleuriosmus הינומה לבנה</dc:title>
  <dc:creator>Eliran Buskila</dc:creator>
  <cp:lastModifiedBy>Eliran Buskila</cp:lastModifiedBy>
  <cp:revision>4</cp:revision>
  <dcterms:created xsi:type="dcterms:W3CDTF">2006-08-16T00:00:00Z</dcterms:created>
  <dcterms:modified xsi:type="dcterms:W3CDTF">2025-11-09T17:50:29Z</dcterms:modified>
  <dc:identifier>DAG4OUzDL_g</dc:identifier>
</cp:coreProperties>
</file>